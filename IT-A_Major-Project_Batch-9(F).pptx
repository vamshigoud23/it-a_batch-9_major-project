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89" r:id="rId3"/>
    <p:sldId id="266" r:id="rId4"/>
    <p:sldId id="258" r:id="rId5"/>
    <p:sldId id="259" r:id="rId6"/>
    <p:sldId id="260" r:id="rId7"/>
    <p:sldId id="261" r:id="rId8"/>
    <p:sldId id="264" r:id="rId9"/>
    <p:sldId id="268" r:id="rId10"/>
    <p:sldId id="269" r:id="rId11"/>
    <p:sldId id="271" r:id="rId12"/>
    <p:sldId id="272" r:id="rId13"/>
    <p:sldId id="273" r:id="rId14"/>
    <p:sldId id="274" r:id="rId15"/>
    <p:sldId id="275" r:id="rId16"/>
    <p:sldId id="276" r:id="rId17"/>
    <p:sldId id="285" r:id="rId18"/>
    <p:sldId id="290" r:id="rId19"/>
    <p:sldId id="291" r:id="rId20"/>
    <p:sldId id="277" r:id="rId21"/>
    <p:sldId id="278" r:id="rId22"/>
    <p:sldId id="279" r:id="rId23"/>
    <p:sldId id="280" r:id="rId24"/>
    <p:sldId id="281" r:id="rId25"/>
    <p:sldId id="282" r:id="rId26"/>
    <p:sldId id="283" r:id="rId27"/>
    <p:sldId id="284" r:id="rId28"/>
    <p:sldId id="288" r:id="rId29"/>
    <p:sldId id="267"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snapToObjects="1" showGuides="1">
      <p:cViewPr varScale="1">
        <p:scale>
          <a:sx n="78" d="100"/>
          <a:sy n="78" d="100"/>
        </p:scale>
        <p:origin x="1555"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CAD085-E8A6-8845-BD4E-CB4CCA059FC4}" type="datetimeFigureOut">
              <a:rPr lang="en-US" smtClean="0"/>
              <a:t>3/24/2026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3/24/2026</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github.com/vamshigoud23/IT-A_BATCH-9_MAJOR-PROJECT"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2449586" y="1463758"/>
            <a:ext cx="3942826" cy="2092881"/>
          </a:xfrm>
          <a:prstGeom prst="rect">
            <a:avLst/>
          </a:prstGeom>
          <a:noFill/>
        </p:spPr>
        <p:txBody>
          <a:bodyPr wrap="square" rtlCol="0">
            <a:spAutoFit/>
          </a:bodyPr>
          <a:lstStyle/>
          <a:p>
            <a:r>
              <a:rPr lang="en-US" sz="2800" b="1" dirty="0">
                <a:solidFill>
                  <a:srgbClr val="7030A0"/>
                </a:solidFill>
                <a:latin typeface="Times New Roman"/>
              </a:rPr>
              <a:t>Major Project Stage – II</a:t>
            </a:r>
          </a:p>
          <a:p>
            <a:r>
              <a:rPr lang="en-US" sz="2400" b="1" dirty="0">
                <a:solidFill>
                  <a:srgbClr val="7030A0"/>
                </a:solidFill>
                <a:latin typeface="Times New Roman"/>
              </a:rPr>
              <a:t>Review - I</a:t>
            </a:r>
          </a:p>
          <a:p>
            <a:endParaRPr lang="en-US" sz="2800" b="1" dirty="0">
              <a:solidFill>
                <a:srgbClr val="7030A0"/>
              </a:solidFill>
              <a:latin typeface="Times New Roman"/>
            </a:endParaRPr>
          </a:p>
          <a:p>
            <a:endParaRPr lang="en-US" sz="2800" b="1" dirty="0">
              <a:solidFill>
                <a:srgbClr val="7030A0"/>
              </a:solidFill>
              <a:latin typeface="Times New Roman"/>
            </a:endParaRPr>
          </a:p>
          <a:p>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909483" y="2561177"/>
            <a:ext cx="7325033" cy="1015663"/>
          </a:xfrm>
          <a:prstGeom prst="rect">
            <a:avLst/>
          </a:prstGeom>
          <a:noFill/>
        </p:spPr>
        <p:txBody>
          <a:bodyPr wrap="square" rtlCol="0">
            <a:spAutoFit/>
          </a:bodyPr>
          <a:lstStyle/>
          <a:p>
            <a:pPr algn="just"/>
            <a:r>
              <a:rPr lang="en-US" sz="2000" b="1" dirty="0">
                <a:latin typeface="Times New Roman" panose="02020603050405020304" pitchFamily="18" charset="0"/>
                <a:cs typeface="Times New Roman" panose="02020603050405020304" pitchFamily="18" charset="0"/>
              </a:rPr>
              <a:t>PROJECT TITLE : </a:t>
            </a:r>
            <a:r>
              <a:rPr lang="en-US" sz="2000" b="1" dirty="0">
                <a:solidFill>
                  <a:schemeClr val="accent1"/>
                </a:solidFill>
                <a:latin typeface="Times New Roman" panose="02020603050405020304" pitchFamily="18" charset="0"/>
                <a:cs typeface="Times New Roman" panose="02020603050405020304" pitchFamily="18" charset="0"/>
              </a:rPr>
              <a:t>HYBRID AUTOENCODER DRIVEN ML MODEL FOR PERFORMANCE MONITORING IN 5G CELLULAR NETWORKS</a:t>
            </a:r>
            <a:endParaRPr lang="en-IN" sz="2000" b="1" dirty="0">
              <a:solidFill>
                <a:schemeClr val="accent1"/>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335560" y="3587416"/>
            <a:ext cx="3674378" cy="1200329"/>
          </a:xfrm>
          <a:prstGeom prst="rect">
            <a:avLst/>
          </a:prstGeom>
          <a:noFill/>
        </p:spPr>
        <p:txBody>
          <a:bodyPr wrap="square" rtlCol="0">
            <a:spAutoFit/>
          </a:bodyPr>
          <a:lstStyle/>
          <a:p>
            <a:r>
              <a:rPr lang="en-US" b="1" dirty="0">
                <a:solidFill>
                  <a:srgbClr val="00B0F0"/>
                </a:solidFill>
                <a:latin typeface="Times New Roman"/>
              </a:rPr>
              <a:t>Project Supervisor:</a:t>
            </a:r>
            <a:r>
              <a:rPr lang="en-US" dirty="0">
                <a:latin typeface="Times New Roman"/>
              </a:rPr>
              <a:t>​</a:t>
            </a:r>
          </a:p>
          <a:p>
            <a:r>
              <a:rPr lang="en-US" b="1" dirty="0">
                <a:solidFill>
                  <a:srgbClr val="002060"/>
                </a:solidFill>
                <a:latin typeface="Times New Roman"/>
              </a:rPr>
              <a:t>Name:</a:t>
            </a:r>
            <a:r>
              <a:rPr lang="en-US" dirty="0">
                <a:solidFill>
                  <a:srgbClr val="002060"/>
                </a:solidFill>
                <a:latin typeface="Times New Roman"/>
              </a:rPr>
              <a:t>​Ravi </a:t>
            </a:r>
            <a:r>
              <a:rPr lang="en-US" dirty="0" err="1">
                <a:solidFill>
                  <a:srgbClr val="002060"/>
                </a:solidFill>
                <a:latin typeface="Times New Roman"/>
              </a:rPr>
              <a:t>Regulagadda</a:t>
            </a:r>
            <a:endParaRPr lang="en-US" dirty="0">
              <a:solidFill>
                <a:srgbClr val="002060"/>
              </a:solidFill>
              <a:latin typeface="Times New Roman"/>
            </a:endParaRPr>
          </a:p>
          <a:p>
            <a:r>
              <a:rPr lang="en-US" b="1" dirty="0">
                <a:solidFill>
                  <a:srgbClr val="002060"/>
                </a:solidFill>
                <a:latin typeface="Times New Roman"/>
              </a:rPr>
              <a:t>Designation: Assistant Professor</a:t>
            </a:r>
            <a:endParaRPr lang="en-US" dirty="0">
              <a:solidFill>
                <a:srgbClr val="002060"/>
              </a:solidFill>
              <a:latin typeface="Times New Roman"/>
            </a:endParaRPr>
          </a:p>
          <a:p>
            <a:pPr algn="ctr"/>
            <a:endParaRPr lang="en-US"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4077049" y="4841084"/>
            <a:ext cx="4877793" cy="2031325"/>
          </a:xfrm>
          <a:prstGeom prst="rect">
            <a:avLst/>
          </a:prstGeom>
          <a:noFill/>
        </p:spPr>
        <p:txBody>
          <a:bodyPr wrap="square" rtlCol="0">
            <a:spAutoFit/>
          </a:bodyPr>
          <a:lstStyle/>
          <a:p>
            <a:r>
              <a:rPr lang="en-US" b="1" dirty="0">
                <a:solidFill>
                  <a:srgbClr val="00B0F0"/>
                </a:solidFill>
                <a:latin typeface="Times New Roman" panose="02020603050405020304" pitchFamily="18" charset="0"/>
                <a:cs typeface="Times New Roman" panose="02020603050405020304" pitchFamily="18" charset="0"/>
              </a:rPr>
              <a:t>Presented By:</a:t>
            </a:r>
          </a:p>
          <a:p>
            <a:r>
              <a:rPr lang="en-US" b="1" dirty="0">
                <a:latin typeface="Times New Roman" panose="02020603050405020304" pitchFamily="18" charset="0"/>
                <a:cs typeface="Times New Roman" panose="02020603050405020304" pitchFamily="18" charset="0"/>
              </a:rPr>
              <a:t>Batch : 9</a:t>
            </a:r>
          </a:p>
          <a:p>
            <a:r>
              <a:rPr lang="en-US" dirty="0">
                <a:latin typeface="Times New Roman" panose="02020603050405020304" pitchFamily="18" charset="0"/>
                <a:cs typeface="Times New Roman" panose="02020603050405020304" pitchFamily="18" charset="0"/>
              </a:rPr>
              <a:t>1. H. No : 227R1A1257     Name : V. Poojitha</a:t>
            </a:r>
          </a:p>
          <a:p>
            <a:r>
              <a:rPr lang="en-US" dirty="0">
                <a:latin typeface="Times New Roman" panose="02020603050405020304" pitchFamily="18" charset="0"/>
                <a:cs typeface="Times New Roman" panose="02020603050405020304" pitchFamily="18" charset="0"/>
              </a:rPr>
              <a:t>2. H. No : 227R1A1223     Name : J. Vamshi</a:t>
            </a:r>
          </a:p>
          <a:p>
            <a:r>
              <a:rPr lang="en-US" dirty="0">
                <a:latin typeface="Times New Roman" panose="02020603050405020304" pitchFamily="18" charset="0"/>
                <a:cs typeface="Times New Roman" panose="02020603050405020304" pitchFamily="18" charset="0"/>
              </a:rPr>
              <a:t>3. H. No : 227R1A1215     Name : E. Greeshma  </a:t>
            </a:r>
          </a:p>
          <a:p>
            <a:endParaRPr lang="en-US" b="1" dirty="0">
              <a:latin typeface="Times New Roman" panose="02020603050405020304" pitchFamily="18" charset="0"/>
              <a:cs typeface="Times New Roman" panose="02020603050405020304" pitchFamily="18" charset="0"/>
            </a:endParaRPr>
          </a:p>
          <a:p>
            <a:r>
              <a:rPr lang="en-US" dirty="0">
                <a:latin typeface="Times New Roman"/>
              </a:rPr>
              <a:t>​</a:t>
            </a:r>
          </a:p>
        </p:txBody>
      </p:sp>
      <p:sp>
        <p:nvSpPr>
          <p:cNvPr id="2" name="TextBox 1">
            <a:extLst>
              <a:ext uri="{FF2B5EF4-FFF2-40B4-BE49-F238E27FC236}">
                <a16:creationId xmlns:a16="http://schemas.microsoft.com/office/drawing/2014/main" id="{CAF3F90C-8826-4035-6BB4-14D1EC8A05A3}"/>
              </a:ext>
            </a:extLst>
          </p:cNvPr>
          <p:cNvSpPr txBox="1"/>
          <p:nvPr/>
        </p:nvSpPr>
        <p:spPr>
          <a:xfrm>
            <a:off x="1917695" y="140319"/>
            <a:ext cx="5662569" cy="1323439"/>
          </a:xfrm>
          <a:prstGeom prst="rect">
            <a:avLst/>
          </a:prstGeom>
          <a:noFill/>
        </p:spPr>
        <p:txBody>
          <a:bodyPr wrap="square" rtlCol="0">
            <a:spAutoFit/>
          </a:bodyPr>
          <a:lstStyle/>
          <a:p>
            <a:r>
              <a:rPr lang="en-US" sz="4000" b="1" dirty="0">
                <a:solidFill>
                  <a:srgbClr val="FF0000"/>
                </a:solidFill>
                <a:latin typeface="Times New Roman" panose="02020603050405020304" pitchFamily="18" charset="0"/>
                <a:cs typeface="Times New Roman" panose="02020603050405020304" pitchFamily="18" charset="0"/>
              </a:rPr>
              <a:t>CMR Technical Campus</a:t>
            </a:r>
            <a:br>
              <a:rPr lang="en-US" b="1" dirty="0">
                <a:latin typeface="Times New Roman" panose="02020603050405020304" pitchFamily="18" charset="0"/>
                <a:cs typeface="Times New Roman" panose="02020603050405020304" pitchFamily="18" charset="0"/>
              </a:rPr>
            </a:br>
            <a:r>
              <a:rPr lang="en-US" sz="4000" b="1" dirty="0">
                <a:solidFill>
                  <a:srgbClr val="00B0F0"/>
                </a:solidFill>
                <a:latin typeface="Times New Roman" panose="02020603050405020304" pitchFamily="18" charset="0"/>
                <a:cs typeface="Times New Roman" panose="02020603050405020304" pitchFamily="18" charset="0"/>
              </a:rPr>
              <a:t>Department of IT</a:t>
            </a:r>
            <a:endParaRPr lang="en-IN" sz="4000" dirty="0">
              <a:latin typeface="Times New Roman" panose="02020603050405020304" pitchFamily="18" charset="0"/>
              <a:cs typeface="Times New Roman" panose="02020603050405020304" pitchFamily="18" charset="0"/>
            </a:endParaRPr>
          </a:p>
        </p:txBody>
      </p:sp>
      <p:pic>
        <p:nvPicPr>
          <p:cNvPr id="3" name="Picture 7" descr="A logo with a flower&#10;&#10;Description automatically generated">
            <a:extLst>
              <a:ext uri="{FF2B5EF4-FFF2-40B4-BE49-F238E27FC236}">
                <a16:creationId xmlns:a16="http://schemas.microsoft.com/office/drawing/2014/main" id="{F3F5707B-596C-628B-0ABB-4545A7A376B2}"/>
              </a:ext>
              <a:ext uri="{4D361329-0F30-4A96-88F2-EE23789D81C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87893E9-B8D9-47BB-B8B0-4F598E8A20C2}"/>
              </a:ext>
            </a:extLst>
          </p:cNvPr>
          <p:cNvPicPr>
            <a:picLocks noChangeAspect="1"/>
          </p:cNvPicPr>
          <p:nvPr/>
        </p:nvPicPr>
        <p:blipFill>
          <a:blip r:embed="rId2"/>
          <a:stretch>
            <a:fillRect/>
          </a:stretch>
        </p:blipFill>
        <p:spPr>
          <a:xfrm>
            <a:off x="268728" y="105110"/>
            <a:ext cx="1648967" cy="1429829"/>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18B16-CBF8-1F3C-B904-CD13B2E5351B}"/>
              </a:ext>
            </a:extLst>
          </p:cNvPr>
          <p:cNvSpPr>
            <a:spLocks noGrp="1"/>
          </p:cNvSpPr>
          <p:nvPr>
            <p:ph type="title"/>
          </p:nvPr>
        </p:nvSpPr>
        <p:spPr>
          <a:xfrm>
            <a:off x="899160" y="224259"/>
            <a:ext cx="7543800" cy="1450757"/>
          </a:xfrm>
        </p:spPr>
        <p:txBody>
          <a:bodyPr/>
          <a:lstStyle/>
          <a:p>
            <a:r>
              <a:rPr lang="en-IN" b="1" dirty="0">
                <a:latin typeface="Times New Roman" panose="02020603050405020304" pitchFamily="18" charset="0"/>
                <a:cs typeface="Times New Roman" panose="02020603050405020304" pitchFamily="18" charset="0"/>
              </a:rPr>
              <a:t>INDEX</a:t>
            </a:r>
          </a:p>
        </p:txBody>
      </p:sp>
      <p:sp>
        <p:nvSpPr>
          <p:cNvPr id="3" name="Content Placeholder 2">
            <a:extLst>
              <a:ext uri="{FF2B5EF4-FFF2-40B4-BE49-F238E27FC236}">
                <a16:creationId xmlns:a16="http://schemas.microsoft.com/office/drawing/2014/main" id="{D0501D29-C72E-344D-0741-5A51A68395F1}"/>
              </a:ext>
            </a:extLst>
          </p:cNvPr>
          <p:cNvSpPr>
            <a:spLocks noGrp="1"/>
          </p:cNvSpPr>
          <p:nvPr>
            <p:ph idx="1"/>
          </p:nvPr>
        </p:nvSpPr>
        <p:spPr>
          <a:xfrm>
            <a:off x="800099" y="1956570"/>
            <a:ext cx="7543801" cy="4387918"/>
          </a:xfrm>
        </p:spPr>
        <p:txBody>
          <a:bodyPr>
            <a:normAutofit fontScale="55000" lnSpcReduction="20000"/>
          </a:bodyPr>
          <a:lstStyle/>
          <a:p>
            <a:pPr marL="228600" indent="-228600">
              <a:buFont typeface=""/>
              <a:buChar char="•"/>
            </a:pPr>
            <a:r>
              <a:rPr lang="en-IN" dirty="0">
                <a:latin typeface="Times New Roman" panose="02020603050405020304" pitchFamily="18" charset="0"/>
                <a:cs typeface="Times New Roman" panose="02020603050405020304" pitchFamily="18" charset="0"/>
              </a:rPr>
              <a:t>Introduction and Overview</a:t>
            </a:r>
          </a:p>
          <a:p>
            <a:pPr marL="228600" indent="-228600">
              <a:buFont typeface=""/>
              <a:buChar char="•"/>
            </a:pPr>
            <a:r>
              <a:rPr lang="en-IN" dirty="0">
                <a:latin typeface="Times New Roman" panose="02020603050405020304" pitchFamily="18" charset="0"/>
                <a:cs typeface="Times New Roman" panose="02020603050405020304" pitchFamily="18" charset="0"/>
              </a:rPr>
              <a:t>Existing System</a:t>
            </a:r>
          </a:p>
          <a:p>
            <a:pPr marL="228600" indent="-228600">
              <a:buFont typeface=""/>
              <a:buChar char="•"/>
            </a:pPr>
            <a:r>
              <a:rPr lang="en-IN" dirty="0">
                <a:latin typeface="Times New Roman" panose="02020603050405020304" pitchFamily="18" charset="0"/>
                <a:cs typeface="Times New Roman" panose="02020603050405020304" pitchFamily="18" charset="0"/>
              </a:rPr>
              <a:t>Disadvantages of Existing System</a:t>
            </a:r>
          </a:p>
          <a:p>
            <a:pPr marL="228600" indent="-228600">
              <a:buFont typeface=""/>
              <a:buChar char="•"/>
            </a:pPr>
            <a:r>
              <a:rPr lang="en-IN" dirty="0">
                <a:latin typeface="Times New Roman" panose="02020603050405020304" pitchFamily="18" charset="0"/>
                <a:cs typeface="Times New Roman" panose="02020603050405020304" pitchFamily="18" charset="0"/>
              </a:rPr>
              <a:t>Proposed System</a:t>
            </a:r>
          </a:p>
          <a:p>
            <a:pPr marL="228600" indent="-228600">
              <a:buFont typeface=""/>
              <a:buChar char="•"/>
            </a:pPr>
            <a:r>
              <a:rPr lang="en-IN" dirty="0">
                <a:latin typeface="Times New Roman" panose="02020603050405020304" pitchFamily="18" charset="0"/>
                <a:cs typeface="Times New Roman" panose="02020603050405020304" pitchFamily="18" charset="0"/>
              </a:rPr>
              <a:t>Advantages of Proposed System</a:t>
            </a:r>
          </a:p>
          <a:p>
            <a:pPr marL="228600" indent="-228600">
              <a:buFont typeface=""/>
              <a:buChar char="•"/>
            </a:pPr>
            <a:r>
              <a:rPr lang="en-IN" dirty="0">
                <a:latin typeface="Times New Roman" panose="02020603050405020304" pitchFamily="18" charset="0"/>
                <a:cs typeface="Times New Roman" panose="02020603050405020304" pitchFamily="18" charset="0"/>
              </a:rPr>
              <a:t>Hardware and Software Requirements</a:t>
            </a:r>
          </a:p>
          <a:p>
            <a:pPr marL="228600" indent="-228600">
              <a:buFont typeface=""/>
              <a:buChar char="•"/>
            </a:pPr>
            <a:r>
              <a:rPr lang="en-IN" dirty="0">
                <a:latin typeface="Times New Roman" panose="02020603050405020304" pitchFamily="18" charset="0"/>
                <a:cs typeface="Times New Roman" panose="02020603050405020304" pitchFamily="18" charset="0"/>
              </a:rPr>
              <a:t>Novelty of the Project</a:t>
            </a:r>
          </a:p>
          <a:p>
            <a:pPr marL="228600" indent="-228600">
              <a:buFont typeface=""/>
              <a:buChar char="•"/>
            </a:pPr>
            <a:r>
              <a:rPr lang="en-IN" dirty="0">
                <a:latin typeface="Times New Roman" panose="02020603050405020304" pitchFamily="18" charset="0"/>
                <a:cs typeface="Times New Roman" panose="02020603050405020304" pitchFamily="18" charset="0"/>
              </a:rPr>
              <a:t>System Architecture </a:t>
            </a:r>
          </a:p>
          <a:p>
            <a:pPr marL="228600" indent="-228600">
              <a:buFont typeface=""/>
              <a:buChar char="•"/>
            </a:pPr>
            <a:r>
              <a:rPr lang="en-IN" dirty="0">
                <a:latin typeface="Times New Roman" panose="02020603050405020304" pitchFamily="18" charset="0"/>
                <a:cs typeface="Times New Roman" panose="02020603050405020304" pitchFamily="18" charset="0"/>
              </a:rPr>
              <a:t>Modules </a:t>
            </a:r>
          </a:p>
          <a:p>
            <a:pPr marL="228600" indent="-228600">
              <a:buFont typeface=""/>
              <a:buChar char="•"/>
            </a:pPr>
            <a:r>
              <a:rPr lang="en-IN" dirty="0">
                <a:latin typeface="Times New Roman" panose="02020603050405020304" pitchFamily="18" charset="0"/>
                <a:cs typeface="Times New Roman" panose="02020603050405020304" pitchFamily="18" charset="0"/>
              </a:rPr>
              <a:t>UML Diagrams</a:t>
            </a:r>
          </a:p>
          <a:p>
            <a:pPr marL="228600" indent="-228600">
              <a:buFont typeface=""/>
              <a:buChar char="•"/>
            </a:pPr>
            <a:r>
              <a:rPr lang="en-IN" dirty="0">
                <a:latin typeface="Times New Roman" panose="02020603050405020304" pitchFamily="18" charset="0"/>
                <a:cs typeface="Times New Roman" panose="02020603050405020304" pitchFamily="18" charset="0"/>
              </a:rPr>
              <a:t>Source Code</a:t>
            </a:r>
          </a:p>
          <a:p>
            <a:pPr marL="228600" indent="-228600">
              <a:buFont typeface=""/>
              <a:buChar char="•"/>
            </a:pPr>
            <a:r>
              <a:rPr lang="en-IN" dirty="0">
                <a:latin typeface="Times New Roman" panose="02020603050405020304" pitchFamily="18" charset="0"/>
                <a:cs typeface="Times New Roman" panose="02020603050405020304" pitchFamily="18" charset="0"/>
              </a:rPr>
              <a:t>Results</a:t>
            </a:r>
          </a:p>
          <a:p>
            <a:pPr marL="228600" indent="-228600">
              <a:buFont typeface=""/>
              <a:buChar char="•"/>
            </a:pPr>
            <a:r>
              <a:rPr lang="en-IN" dirty="0">
                <a:latin typeface="Times New Roman" panose="02020603050405020304" pitchFamily="18" charset="0"/>
                <a:cs typeface="Times New Roman" panose="02020603050405020304" pitchFamily="18" charset="0"/>
              </a:rPr>
              <a:t>Conclusion &amp; Future Enhancement</a:t>
            </a:r>
          </a:p>
          <a:p>
            <a:pPr marL="228600" indent="-228600">
              <a:buFont typeface=""/>
              <a:buChar char="•"/>
            </a:pPr>
            <a:r>
              <a:rPr lang="en-IN" dirty="0">
                <a:latin typeface="Times New Roman" panose="02020603050405020304" pitchFamily="18" charset="0"/>
                <a:cs typeface="Times New Roman" panose="02020603050405020304" pitchFamily="18" charset="0"/>
              </a:rPr>
              <a:t>References</a:t>
            </a:r>
          </a:p>
          <a:p>
            <a:pPr marL="228600" indent="-228600">
              <a:buFont typeface=""/>
              <a:buChar char="•"/>
            </a:pPr>
            <a:r>
              <a:rPr lang="en-IN" dirty="0">
                <a:latin typeface="Times New Roman" panose="02020603050405020304" pitchFamily="18" charset="0"/>
                <a:cs typeface="Times New Roman" panose="02020603050405020304" pitchFamily="18" charset="0"/>
              </a:rPr>
              <a:t>GitHub link</a:t>
            </a:r>
            <a:endParaRPr lang="en-IN" dirty="0"/>
          </a:p>
        </p:txBody>
      </p:sp>
    </p:spTree>
    <p:extLst>
      <p:ext uri="{BB962C8B-B14F-4D97-AF65-F5344CB8AC3E}">
        <p14:creationId xmlns:p14="http://schemas.microsoft.com/office/powerpoint/2010/main" val="242637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8087" y="209739"/>
            <a:ext cx="7543800" cy="1450757"/>
          </a:xfrm>
        </p:spPr>
        <p:txBody>
          <a:bodyPr/>
          <a:lstStyle/>
          <a:p>
            <a:r>
              <a:rPr lang="en-US" b="1" dirty="0">
                <a:latin typeface="Times New Roman" panose="02020603050405020304" pitchFamily="18" charset="0"/>
                <a:cs typeface="Times New Roman" panose="02020603050405020304" pitchFamily="18" charset="0"/>
              </a:rPr>
              <a:t>INTRODUCTION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AND  OVERVIEW                </a:t>
            </a:r>
            <a:endParaRPr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938748"/>
            <a:ext cx="8229600" cy="4275239"/>
          </a:xfrm>
        </p:spPr>
        <p:txBody>
          <a:bodyPr>
            <a:normAutofit fontScale="55000" lnSpcReduction="20000"/>
          </a:bodyPr>
          <a:lstStyle/>
          <a:p>
            <a:pPr algn="just">
              <a:lnSpc>
                <a:spcPct val="17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a:t>
            </a:r>
            <a:r>
              <a:rPr lang="en-IN" sz="2300" dirty="0">
                <a:latin typeface="Times New Roman" panose="02020603050405020304" pitchFamily="18" charset="0"/>
                <a:cs typeface="Times New Roman" panose="02020603050405020304" pitchFamily="18" charset="0"/>
              </a:rPr>
              <a:t>The advent of fifth generation (5G) cellular networks marks a revolutionary leap in communication technology, promising ultra-low latency, enhanced bandwidth, and massive device connectivity. </a:t>
            </a:r>
          </a:p>
          <a:p>
            <a:pPr algn="just">
              <a:lnSpc>
                <a:spcPct val="170000"/>
              </a:lnSpc>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 With the exponential growth of mobile applications, IoT devices, and high-throughput services such as autonomous driving and augmented reality, 5G is positioned as the backbone of future digital ecosystems.</a:t>
            </a:r>
          </a:p>
          <a:p>
            <a:pPr algn="just">
              <a:lnSpc>
                <a:spcPct val="170000"/>
              </a:lnSpc>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 Historically, mobile networks have evolved from 1G </a:t>
            </a:r>
            <a:r>
              <a:rPr lang="en-IN" sz="2300" dirty="0" err="1">
                <a:latin typeface="Times New Roman" panose="02020603050405020304" pitchFamily="18" charset="0"/>
                <a:cs typeface="Times New Roman" panose="02020603050405020304" pitchFamily="18" charset="0"/>
              </a:rPr>
              <a:t>analog</a:t>
            </a:r>
            <a:r>
              <a:rPr lang="en-IN" sz="2300" dirty="0">
                <a:latin typeface="Times New Roman" panose="02020603050405020304" pitchFamily="18" charset="0"/>
                <a:cs typeface="Times New Roman" panose="02020603050405020304" pitchFamily="18" charset="0"/>
              </a:rPr>
              <a:t> voice systems through 4G LTE, each generation improving speed and efficiency but still facing critical challenges in spectrum utilization, energy efficiency, and dynamic resource management. </a:t>
            </a:r>
          </a:p>
          <a:p>
            <a:pPr algn="just">
              <a:lnSpc>
                <a:spcPct val="170000"/>
              </a:lnSpc>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 Despite these advances, traditional cellular systems struggle to meet the stringent requirements of real-time applications in terms of reliability, security, and scalability. </a:t>
            </a:r>
          </a:p>
          <a:p>
            <a:pPr algn="just">
              <a:lnSpc>
                <a:spcPct val="170000"/>
              </a:lnSpc>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 Conventional systems rely on static resource allocation, rule-based scheduling, and limited traffic prediction models.</a:t>
            </a:r>
            <a:endParaRPr lang="en-US" sz="2300" dirty="0">
              <a:latin typeface="Times New Roman" panose="02020603050405020304" pitchFamily="18" charset="0"/>
              <a:cs typeface="Times New Roman" panose="02020603050405020304" pitchFamily="18" charset="0"/>
            </a:endParaRPr>
          </a:p>
        </p:txBody>
      </p:sp>
      <p:pic>
        <p:nvPicPr>
          <p:cNvPr id="4" name="Picture 3" descr="A logo with a flower&#10;&#10;Description automatically generated">
            <a:extLst>
              <a:ext uri="{FF2B5EF4-FFF2-40B4-BE49-F238E27FC236}">
                <a16:creationId xmlns:a16="http://schemas.microsoft.com/office/drawing/2014/main" id="{6FF04DF8-02EC-A138-C710-F78727BA8512}"/>
              </a:ext>
              <a:ext uri="{4D361329-0F30-4A96-88F2-EE23789D81CF}">
                <a16:creationId xmlns:lc="http://schemas.openxmlformats.org/drawingml/2006/lockedCanvas"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87893E9-B8D9-47BB-B8B0-4F598E8A20C2}"/>
              </a:ext>
            </a:extLst>
          </p:cNvPr>
          <p:cNvPicPr>
            <a:picLocks noChangeAspect="1"/>
          </p:cNvPicPr>
          <p:nvPr/>
        </p:nvPicPr>
        <p:blipFill>
          <a:blip r:embed="rId2"/>
          <a:stretch>
            <a:fillRect/>
          </a:stretch>
        </p:blipFill>
        <p:spPr>
          <a:xfrm>
            <a:off x="6812920" y="369116"/>
            <a:ext cx="1648967" cy="1270452"/>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E</a:t>
            </a:r>
            <a:r>
              <a:rPr lang="en-US" b="1" dirty="0">
                <a:latin typeface="Times New Roman" panose="02020603050405020304" pitchFamily="18" charset="0"/>
                <a:cs typeface="Times New Roman" panose="02020603050405020304" pitchFamily="18" charset="0"/>
              </a:rPr>
              <a:t>XISTING SYSTEM     </a:t>
            </a:r>
            <a:endParaRPr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31643" y="2045433"/>
            <a:ext cx="7680714" cy="3981741"/>
          </a:xfrm>
        </p:spPr>
        <p:txBody>
          <a:bodyPr>
            <a:normAutofit/>
          </a:bodyPr>
          <a:lstStyle/>
          <a:p>
            <a:pPr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Traditional 5G network monitoring is manual, labor-intensive, and largely reactive.</a:t>
            </a:r>
          </a:p>
          <a:p>
            <a:pPr algn="just">
              <a:lnSpc>
                <a:spcPct val="150000"/>
              </a:lnSpc>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Engineers manually collect and analyze KPIs like signal strength, throughput, and latency.</a:t>
            </a:r>
          </a:p>
          <a:p>
            <a:pPr algn="just">
              <a:lnSpc>
                <a:spcPct val="150000"/>
              </a:lnSpc>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Troubleshooting requires scanning large logs and traces across multiple systems.</a:t>
            </a:r>
          </a:p>
          <a:p>
            <a:pPr algn="just">
              <a:lnSpc>
                <a:spcPct val="150000"/>
              </a:lnSpc>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Root cause analysis depends on expert knowledge and is time-consuming.</a:t>
            </a:r>
          </a:p>
          <a:p>
            <a:pPr algn="just">
              <a:lnSpc>
                <a:spcPct val="150000"/>
              </a:lnSpc>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Issues are resolved after user impact, making the process slow and inefficient.</a:t>
            </a:r>
          </a:p>
        </p:txBody>
      </p:sp>
      <p:pic>
        <p:nvPicPr>
          <p:cNvPr id="4" name="Picture 3" descr="A logo with a flower&#10;&#10;Description automatically generated">
            <a:extLst>
              <a:ext uri="{FF2B5EF4-FFF2-40B4-BE49-F238E27FC236}">
                <a16:creationId xmlns:a16="http://schemas.microsoft.com/office/drawing/2014/main" id="{71926312-2A54-4E93-D9C9-E783A3ACDB81}"/>
              </a:ext>
              <a:ext uri="{4D361329-0F30-4A96-88F2-EE23789D81CF}">
                <a16:creationId xmlns:lc="http://schemas.openxmlformats.org/drawingml/2006/lockedCanvas"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87893E9-B8D9-47BB-B8B0-4F598E8A20C2}"/>
              </a:ext>
            </a:extLst>
          </p:cNvPr>
          <p:cNvPicPr>
            <a:picLocks noChangeAspect="1"/>
          </p:cNvPicPr>
          <p:nvPr/>
        </p:nvPicPr>
        <p:blipFill>
          <a:blip r:embed="rId2"/>
          <a:stretch>
            <a:fillRect/>
          </a:stretch>
        </p:blipFill>
        <p:spPr>
          <a:xfrm>
            <a:off x="6763390" y="436228"/>
            <a:ext cx="1648967" cy="1115735"/>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0" y="286604"/>
            <a:ext cx="7543800" cy="1450757"/>
          </a:xfrm>
        </p:spPr>
        <p:txBody>
          <a:bodyPr>
            <a:normAutofit/>
          </a:bodyPr>
          <a:lstStyle/>
          <a:p>
            <a:r>
              <a:rPr sz="4400" b="1" dirty="0">
                <a:latin typeface="Times New Roman" panose="02020603050405020304" pitchFamily="18" charset="0"/>
                <a:cs typeface="Times New Roman" panose="02020603050405020304" pitchFamily="18" charset="0"/>
              </a:rPr>
              <a:t>E</a:t>
            </a:r>
            <a:r>
              <a:rPr lang="en-US" sz="4400" b="1" dirty="0">
                <a:latin typeface="Times New Roman" panose="02020603050405020304" pitchFamily="18" charset="0"/>
                <a:cs typeface="Times New Roman" panose="02020603050405020304" pitchFamily="18" charset="0"/>
              </a:rPr>
              <a:t>XISTING SYSTEM DISADVANTAGES     </a:t>
            </a:r>
            <a:endParaRPr sz="4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93174" y="2000864"/>
            <a:ext cx="8229600" cy="4525963"/>
          </a:xfrm>
        </p:spPr>
        <p:txBody>
          <a:bodyPr>
            <a:normAutofit/>
          </a:bodyPr>
          <a:lstStyle/>
          <a:p>
            <a:pPr>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Human Error and Bias </a:t>
            </a:r>
          </a:p>
          <a:p>
            <a:pPr lvl="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Time-Consuming and Slow</a:t>
            </a:r>
          </a:p>
          <a:p>
            <a:pPr lvl="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Reactive, Not Proactive</a:t>
            </a:r>
          </a:p>
          <a:p>
            <a:pPr lvl="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Lack of Scalability</a:t>
            </a:r>
          </a:p>
          <a:p>
            <a:pPr lvl="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Difficulty with Complex Patterns</a:t>
            </a:r>
          </a:p>
          <a:p>
            <a:pPr marL="0" indent="0" algn="just">
              <a:buNone/>
            </a:pPr>
            <a:endParaRPr dirty="0">
              <a:latin typeface="Times New Roman" panose="02020603050405020304" pitchFamily="18" charset="0"/>
              <a:cs typeface="Times New Roman" panose="02020603050405020304" pitchFamily="18" charset="0"/>
            </a:endParaRPr>
          </a:p>
        </p:txBody>
      </p:sp>
      <p:pic>
        <p:nvPicPr>
          <p:cNvPr id="4" name="Picture 3" descr="A logo with a flower&#10;&#10;Description automatically generated">
            <a:extLst>
              <a:ext uri="{FF2B5EF4-FFF2-40B4-BE49-F238E27FC236}">
                <a16:creationId xmlns:a16="http://schemas.microsoft.com/office/drawing/2014/main" id="{2D9DB737-BABA-5E86-B0B4-8EAC2FE00C59}"/>
              </a:ext>
              <a:ext uri="{4D361329-0F30-4A96-88F2-EE23789D81CF}">
                <a16:creationId xmlns:lc="http://schemas.openxmlformats.org/drawingml/2006/lockedCanvas"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87893E9-B8D9-47BB-B8B0-4F598E8A20C2}"/>
              </a:ext>
            </a:extLst>
          </p:cNvPr>
          <p:cNvPicPr>
            <a:picLocks noChangeAspect="1"/>
          </p:cNvPicPr>
          <p:nvPr/>
        </p:nvPicPr>
        <p:blipFill>
          <a:blip r:embed="rId2"/>
          <a:stretch>
            <a:fillRect/>
          </a:stretch>
        </p:blipFill>
        <p:spPr>
          <a:xfrm>
            <a:off x="6694933" y="487670"/>
            <a:ext cx="1648967" cy="1048624"/>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latin typeface="Times New Roman" panose="02020603050405020304" pitchFamily="18" charset="0"/>
                <a:cs typeface="Times New Roman" panose="02020603050405020304" pitchFamily="18" charset="0"/>
              </a:rPr>
              <a:t>P</a:t>
            </a:r>
            <a:r>
              <a:rPr lang="en-US" sz="4400" b="1" dirty="0">
                <a:latin typeface="Times New Roman" panose="02020603050405020304" pitchFamily="18" charset="0"/>
                <a:cs typeface="Times New Roman" panose="02020603050405020304" pitchFamily="18" charset="0"/>
              </a:rPr>
              <a:t>ROPOSED SYSTEM     </a:t>
            </a:r>
            <a:endParaRPr sz="4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22960" y="1970823"/>
            <a:ext cx="7543801" cy="4023360"/>
          </a:xfrm>
        </p:spPr>
        <p:txBody>
          <a:bodyPr>
            <a:noAutofit/>
          </a:bodyPr>
          <a:lstStyle/>
          <a:p>
            <a:pPr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The system automates 5G network performance monitoring to overcome manual and reactive limitations.</a:t>
            </a:r>
          </a:p>
          <a:p>
            <a:pPr algn="just">
              <a:lnSpc>
                <a:spcPct val="150000"/>
              </a:lnSpc>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rPr>
              <a:t>It uses a hybrid ML model called DeepLatent-Forest with a two-phase architecture.</a:t>
            </a:r>
          </a:p>
          <a:p>
            <a:pPr algn="just">
              <a:lnSpc>
                <a:spcPct val="150000"/>
              </a:lnSpc>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rPr>
              <a:t>A deep autoencoder extracts compressed, noise-free latent features from high-dimensional network data.</a:t>
            </a:r>
          </a:p>
          <a:p>
            <a:pPr algn="just">
              <a:lnSpc>
                <a:spcPct val="150000"/>
              </a:lnSpc>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rPr>
              <a:t>A Random Forest classifier uses these latent features to accurately predict dropped connections.</a:t>
            </a:r>
          </a:p>
          <a:p>
            <a:pPr algn="just">
              <a:lnSpc>
                <a:spcPct val="150000"/>
              </a:lnSpc>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rPr>
              <a:t>Integrated with a Tkinter GUI, the system enables real-time, proactive, and user-friendly network monitoring.</a:t>
            </a:r>
          </a:p>
        </p:txBody>
      </p:sp>
      <p:pic>
        <p:nvPicPr>
          <p:cNvPr id="4" name="Picture 3" descr="A logo with a flower&#10;&#10;Description automatically generated">
            <a:extLst>
              <a:ext uri="{FF2B5EF4-FFF2-40B4-BE49-F238E27FC236}">
                <a16:creationId xmlns:a16="http://schemas.microsoft.com/office/drawing/2014/main" id="{5EA1A3FF-3A16-CAF9-B8CF-0221616F453A}"/>
              </a:ext>
              <a:ext uri="{4D361329-0F30-4A96-88F2-EE23789D81CF}">
                <a16:creationId xmlns:lc="http://schemas.openxmlformats.org/drawingml/2006/lockedCanvas"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87893E9-B8D9-47BB-B8B0-4F598E8A20C2}"/>
              </a:ext>
            </a:extLst>
          </p:cNvPr>
          <p:cNvPicPr>
            <a:picLocks noChangeAspect="1"/>
          </p:cNvPicPr>
          <p:nvPr/>
        </p:nvPicPr>
        <p:blipFill>
          <a:blip r:embed="rId2"/>
          <a:stretch>
            <a:fillRect/>
          </a:stretch>
        </p:blipFill>
        <p:spPr>
          <a:xfrm>
            <a:off x="6717794" y="613504"/>
            <a:ext cx="1648967" cy="947957"/>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b="1" dirty="0">
                <a:latin typeface="Times New Roman" panose="02020603050405020304" pitchFamily="18" charset="0"/>
                <a:cs typeface="Times New Roman" panose="02020603050405020304" pitchFamily="18" charset="0"/>
              </a:rPr>
              <a:t>PROPOSED SYSTEM ADVANTAGES               </a:t>
            </a:r>
            <a:endParaRPr sz="4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01617" y="1882333"/>
            <a:ext cx="7543801" cy="4023360"/>
          </a:xfrm>
        </p:spPr>
        <p:txBody>
          <a:bodyPr>
            <a:normAutofit/>
          </a:bodyPr>
          <a:lstStyle/>
          <a:p>
            <a:pPr lvl="0">
              <a:lnSpc>
                <a:spcPct val="15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Proactive Problem Prediction</a:t>
            </a:r>
          </a:p>
          <a:p>
            <a:pPr lvl="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 Enhanced Accuracy</a:t>
            </a:r>
          </a:p>
          <a:p>
            <a:pPr lvl="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 Automated Feature Engineering</a:t>
            </a:r>
          </a:p>
          <a:p>
            <a:pPr lvl="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Dimensionality Reduction</a:t>
            </a:r>
          </a:p>
          <a:p>
            <a:pPr lvl="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 Robustness to Noise</a:t>
            </a:r>
          </a:p>
          <a:p>
            <a:pPr marL="0" indent="0">
              <a:buNone/>
            </a:pPr>
            <a:endParaRPr dirty="0">
              <a:latin typeface="Times New Roman" panose="02020603050405020304" pitchFamily="18" charset="0"/>
              <a:cs typeface="Times New Roman" panose="02020603050405020304" pitchFamily="18" charset="0"/>
            </a:endParaRPr>
          </a:p>
        </p:txBody>
      </p:sp>
      <p:pic>
        <p:nvPicPr>
          <p:cNvPr id="4" name="Picture 3" descr="A logo with a flower&#10;&#10;Description automatically generated">
            <a:extLst>
              <a:ext uri="{FF2B5EF4-FFF2-40B4-BE49-F238E27FC236}">
                <a16:creationId xmlns:a16="http://schemas.microsoft.com/office/drawing/2014/main" id="{A0977CE7-49CC-93B0-75E9-D6F625535A5C}"/>
              </a:ext>
              <a:ext uri="{4D361329-0F30-4A96-88F2-EE23789D81CF}">
                <a16:creationId xmlns:lc="http://schemas.openxmlformats.org/drawingml/2006/lockedCanvas"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87893E9-B8D9-47BB-B8B0-4F598E8A20C2}"/>
              </a:ext>
            </a:extLst>
          </p:cNvPr>
          <p:cNvPicPr>
            <a:picLocks noChangeAspect="1"/>
          </p:cNvPicPr>
          <p:nvPr/>
        </p:nvPicPr>
        <p:blipFill>
          <a:blip r:embed="rId2"/>
          <a:stretch>
            <a:fillRect/>
          </a:stretch>
        </p:blipFill>
        <p:spPr>
          <a:xfrm>
            <a:off x="6717793" y="503339"/>
            <a:ext cx="1648967" cy="1065402"/>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b="1" dirty="0">
                <a:latin typeface="Times New Roman" panose="02020603050405020304" pitchFamily="18" charset="0"/>
                <a:cs typeface="Times New Roman" panose="02020603050405020304" pitchFamily="18" charset="0"/>
              </a:rPr>
              <a:t>SYSTEM </a:t>
            </a:r>
            <a:br>
              <a:rPr lang="en-US" sz="4400" b="1" dirty="0">
                <a:latin typeface="Times New Roman" panose="02020603050405020304" pitchFamily="18" charset="0"/>
                <a:cs typeface="Times New Roman" panose="02020603050405020304" pitchFamily="18" charset="0"/>
              </a:rPr>
            </a:br>
            <a:r>
              <a:rPr lang="en-US" sz="4400" b="1" dirty="0">
                <a:latin typeface="Times New Roman" panose="02020603050405020304" pitchFamily="18" charset="0"/>
                <a:cs typeface="Times New Roman" panose="02020603050405020304" pitchFamily="18" charset="0"/>
              </a:rPr>
              <a:t>REQUIREMENTS     </a:t>
            </a:r>
            <a:endParaRPr lang="en-IN" sz="4400" b="1"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nvPr>
        </p:nvGraphicFramePr>
        <p:xfrm>
          <a:off x="822960" y="2120208"/>
          <a:ext cx="7543800" cy="2617584"/>
        </p:xfrm>
        <a:graphic>
          <a:graphicData uri="http://schemas.openxmlformats.org/drawingml/2006/table">
            <a:tbl>
              <a:tblPr firstRow="1" bandRow="1">
                <a:tableStyleId>{5C22544A-7EE6-4342-B048-85BDC9FD1C3A}</a:tableStyleId>
              </a:tblPr>
              <a:tblGrid>
                <a:gridCol w="3771900">
                  <a:extLst>
                    <a:ext uri="{9D8B030D-6E8A-4147-A177-3AD203B41FA5}">
                      <a16:colId xmlns:a16="http://schemas.microsoft.com/office/drawing/2014/main" val="20000"/>
                    </a:ext>
                  </a:extLst>
                </a:gridCol>
                <a:gridCol w="3771900">
                  <a:extLst>
                    <a:ext uri="{9D8B030D-6E8A-4147-A177-3AD203B41FA5}">
                      <a16:colId xmlns:a16="http://schemas.microsoft.com/office/drawing/2014/main" val="20001"/>
                    </a:ext>
                  </a:extLst>
                </a:gridCol>
              </a:tblGrid>
              <a:tr h="654396">
                <a:tc>
                  <a:txBody>
                    <a:bodyPr/>
                    <a:lstStyle/>
                    <a:p>
                      <a:pPr algn="ctr"/>
                      <a:r>
                        <a:rPr lang="en-US" dirty="0">
                          <a:latin typeface="Times New Roman" panose="02020603050405020304" pitchFamily="18" charset="0"/>
                          <a:cs typeface="Times New Roman" panose="02020603050405020304" pitchFamily="18" charset="0"/>
                        </a:rPr>
                        <a:t>SOFTWARE COMPONENTS </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HARDWARE COMPONENTS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65439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800" b="1" kern="1200" dirty="0">
                          <a:solidFill>
                            <a:schemeClr val="dk1"/>
                          </a:solidFill>
                          <a:effectLst/>
                          <a:latin typeface="Times New Roman" panose="02020603050405020304" pitchFamily="18" charset="0"/>
                          <a:ea typeface="+mn-ea"/>
                          <a:cs typeface="Times New Roman" panose="02020603050405020304" pitchFamily="18" charset="0"/>
                        </a:rPr>
                        <a:t>Python version     </a:t>
                      </a:r>
                      <a:r>
                        <a:rPr lang="en-IN" sz="1800" kern="1200" dirty="0">
                          <a:solidFill>
                            <a:schemeClr val="dk1"/>
                          </a:solidFill>
                          <a:effectLst/>
                          <a:latin typeface="+mn-lt"/>
                          <a:ea typeface="+mn-ea"/>
                          <a:cs typeface="+mn-cs"/>
                        </a:rPr>
                        <a:t>:  Python 3.12.0</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800" b="1" kern="1200" dirty="0">
                          <a:solidFill>
                            <a:schemeClr val="dk1"/>
                          </a:solidFill>
                          <a:effectLst/>
                          <a:latin typeface="Times New Roman" panose="02020603050405020304" pitchFamily="18" charset="0"/>
                          <a:ea typeface="+mn-ea"/>
                          <a:cs typeface="Times New Roman" panose="02020603050405020304" pitchFamily="18" charset="0"/>
                        </a:rPr>
                        <a:t>Processor</a:t>
                      </a:r>
                      <a:r>
                        <a:rPr lang="en-IN" sz="1800" kern="1200" dirty="0">
                          <a:solidFill>
                            <a:schemeClr val="dk1"/>
                          </a:solidFill>
                          <a:effectLst/>
                          <a:latin typeface="+mn-lt"/>
                          <a:ea typeface="+mn-ea"/>
                          <a:cs typeface="+mn-cs"/>
                        </a:rPr>
                        <a:t>  : </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Intel i5</a:t>
                      </a:r>
                    </a:p>
                    <a:p>
                      <a:endParaRPr lang="en-IN" dirty="0"/>
                    </a:p>
                  </a:txBody>
                  <a:tcPr/>
                </a:tc>
                <a:extLst>
                  <a:ext uri="{0D108BD9-81ED-4DB2-BD59-A6C34878D82A}">
                    <a16:rowId xmlns:a16="http://schemas.microsoft.com/office/drawing/2014/main" val="10001"/>
                  </a:ext>
                </a:extLst>
              </a:tr>
              <a:tr h="65439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800" b="1" kern="1200" dirty="0">
                          <a:solidFill>
                            <a:schemeClr val="dk1"/>
                          </a:solidFill>
                          <a:effectLst/>
                          <a:latin typeface="Times New Roman" panose="02020603050405020304" pitchFamily="18" charset="0"/>
                          <a:ea typeface="+mn-ea"/>
                          <a:cs typeface="Times New Roman" panose="02020603050405020304" pitchFamily="18" charset="0"/>
                        </a:rPr>
                        <a:t>Operating system </a:t>
                      </a:r>
                      <a:r>
                        <a:rPr lang="en-IN" sz="1800" kern="1200" dirty="0">
                          <a:solidFill>
                            <a:schemeClr val="dk1"/>
                          </a:solidFill>
                          <a:effectLst/>
                          <a:latin typeface="+mn-lt"/>
                          <a:ea typeface="+mn-ea"/>
                          <a:cs typeface="+mn-cs"/>
                        </a:rPr>
                        <a:t>:  Windows</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800" b="1" kern="1200" dirty="0">
                          <a:solidFill>
                            <a:schemeClr val="dk1"/>
                          </a:solidFill>
                          <a:effectLst/>
                          <a:latin typeface="Times New Roman" panose="02020603050405020304" pitchFamily="18" charset="0"/>
                          <a:ea typeface="+mn-ea"/>
                          <a:cs typeface="Times New Roman" panose="02020603050405020304" pitchFamily="18" charset="0"/>
                        </a:rPr>
                        <a:t>Memory</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 </a:t>
                      </a:r>
                      <a:r>
                        <a:rPr lang="en-IN" sz="1800" kern="1200" dirty="0">
                          <a:solidFill>
                            <a:schemeClr val="dk1"/>
                          </a:solidFill>
                          <a:effectLst/>
                          <a:latin typeface="+mn-lt"/>
                          <a:ea typeface="+mn-ea"/>
                          <a:cs typeface="+mn-cs"/>
                        </a:rPr>
                        <a:t>   : 1 TB</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 (storage)</a:t>
                      </a:r>
                    </a:p>
                    <a:p>
                      <a:endParaRPr lang="en-IN" dirty="0"/>
                    </a:p>
                  </a:txBody>
                  <a:tcPr/>
                </a:tc>
                <a:extLst>
                  <a:ext uri="{0D108BD9-81ED-4DB2-BD59-A6C34878D82A}">
                    <a16:rowId xmlns:a16="http://schemas.microsoft.com/office/drawing/2014/main" val="10002"/>
                  </a:ext>
                </a:extLst>
              </a:tr>
              <a:tr h="65439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800" b="1" kern="1200" dirty="0">
                          <a:solidFill>
                            <a:schemeClr val="dk1"/>
                          </a:solidFill>
                          <a:effectLst/>
                          <a:latin typeface="Times New Roman" panose="02020603050405020304" pitchFamily="18" charset="0"/>
                          <a:ea typeface="+mn-ea"/>
                          <a:cs typeface="Times New Roman" panose="02020603050405020304" pitchFamily="18" charset="0"/>
                        </a:rPr>
                        <a:t>Frontend</a:t>
                      </a:r>
                      <a:r>
                        <a:rPr lang="en-IN" sz="1800" kern="1200" dirty="0">
                          <a:solidFill>
                            <a:schemeClr val="dk1"/>
                          </a:solidFill>
                          <a:effectLst/>
                          <a:latin typeface="+mn-lt"/>
                          <a:ea typeface="+mn-ea"/>
                          <a:cs typeface="+mn-cs"/>
                        </a:rPr>
                        <a:t>                 :  </a:t>
                      </a:r>
                      <a:r>
                        <a:rPr lang="en-IN" sz="1800" kern="1200" dirty="0" err="1">
                          <a:solidFill>
                            <a:schemeClr val="dk1"/>
                          </a:solidFill>
                          <a:effectLst/>
                          <a:latin typeface="+mn-lt"/>
                          <a:ea typeface="+mn-ea"/>
                          <a:cs typeface="+mn-cs"/>
                        </a:rPr>
                        <a:t>Tkinter</a:t>
                      </a:r>
                      <a:endParaRPr lang="en-IN" sz="1800" kern="1200" dirty="0">
                        <a:solidFill>
                          <a:schemeClr val="dk1"/>
                        </a:solidFill>
                        <a:effectLst/>
                        <a:latin typeface="+mn-lt"/>
                        <a:ea typeface="+mn-ea"/>
                        <a:cs typeface="+mn-cs"/>
                      </a:endParaRP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800" b="1" kern="1200" dirty="0">
                          <a:solidFill>
                            <a:schemeClr val="dk1"/>
                          </a:solidFill>
                          <a:effectLst/>
                          <a:latin typeface="Times New Roman" panose="02020603050405020304" pitchFamily="18" charset="0"/>
                          <a:ea typeface="+mn-ea"/>
                          <a:cs typeface="Times New Roman" panose="02020603050405020304" pitchFamily="18" charset="0"/>
                        </a:rPr>
                        <a:t>RAM </a:t>
                      </a:r>
                      <a:r>
                        <a:rPr lang="en-IN" sz="1800" kern="1200" dirty="0">
                          <a:solidFill>
                            <a:schemeClr val="dk1"/>
                          </a:solidFill>
                          <a:effectLst/>
                          <a:latin typeface="+mn-lt"/>
                          <a:ea typeface="+mn-ea"/>
                          <a:cs typeface="+mn-cs"/>
                        </a:rPr>
                        <a:t>         : 8</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 GB</a:t>
                      </a:r>
                    </a:p>
                    <a:p>
                      <a:endParaRPr lang="en-IN" dirty="0"/>
                    </a:p>
                  </a:txBody>
                  <a:tcPr/>
                </a:tc>
                <a:extLst>
                  <a:ext uri="{0D108BD9-81ED-4DB2-BD59-A6C34878D82A}">
                    <a16:rowId xmlns:a16="http://schemas.microsoft.com/office/drawing/2014/main" val="10003"/>
                  </a:ext>
                </a:extLst>
              </a:tr>
            </a:tbl>
          </a:graphicData>
        </a:graphic>
      </p:graphicFrame>
      <p:pic>
        <p:nvPicPr>
          <p:cNvPr id="3" name="Picture 2" descr="A logo with a flower&#10;&#10;Description automatically generated">
            <a:extLst>
              <a:ext uri="{FF2B5EF4-FFF2-40B4-BE49-F238E27FC236}">
                <a16:creationId xmlns:a16="http://schemas.microsoft.com/office/drawing/2014/main" id="{9B8115F2-5061-CEB0-6E9D-EAFFC1B6DAA9}"/>
              </a:ext>
              <a:ext uri="{4D361329-0F30-4A96-88F2-EE23789D81CF}">
                <a16:creationId xmlns:lc="http://schemas.openxmlformats.org/drawingml/2006/lockedCanvas"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87893E9-B8D9-47BB-B8B0-4F598E8A20C2}"/>
              </a:ext>
            </a:extLst>
          </p:cNvPr>
          <p:cNvPicPr>
            <a:picLocks noChangeAspect="1"/>
          </p:cNvPicPr>
          <p:nvPr/>
        </p:nvPicPr>
        <p:blipFill>
          <a:blip r:embed="rId2"/>
          <a:stretch>
            <a:fillRect/>
          </a:stretch>
        </p:blipFill>
        <p:spPr>
          <a:xfrm>
            <a:off x="6717793" y="419450"/>
            <a:ext cx="1648967" cy="1065401"/>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0655F-DB92-411A-46D9-98465C4F878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NOVELITY  </a:t>
            </a:r>
            <a:r>
              <a:rPr lang="en-US" b="1" dirty="0"/>
              <a:t>             </a:t>
            </a:r>
            <a:endParaRPr lang="en-IN" b="1" dirty="0"/>
          </a:p>
        </p:txBody>
      </p:sp>
      <p:sp>
        <p:nvSpPr>
          <p:cNvPr id="3" name="Content Placeholder 2">
            <a:extLst>
              <a:ext uri="{FF2B5EF4-FFF2-40B4-BE49-F238E27FC236}">
                <a16:creationId xmlns:a16="http://schemas.microsoft.com/office/drawing/2014/main" id="{BFD8E562-A9DA-EB02-D5D3-2CF80D8A0360}"/>
              </a:ext>
            </a:extLst>
          </p:cNvPr>
          <p:cNvSpPr>
            <a:spLocks noGrp="1"/>
          </p:cNvSpPr>
          <p:nvPr>
            <p:ph idx="1"/>
          </p:nvPr>
        </p:nvSpPr>
        <p:spPr>
          <a:xfrm>
            <a:off x="822959" y="1845734"/>
            <a:ext cx="7543801" cy="4194339"/>
          </a:xfrm>
        </p:spPr>
        <p:txBody>
          <a:bodyPr>
            <a:normAutofit fontScale="85000" lnSpcReduction="10000"/>
          </a:bodyPr>
          <a:lstStyle/>
          <a:p>
            <a:pPr>
              <a:lnSpc>
                <a:spcPct val="16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Proposes a hybrid </a:t>
            </a:r>
            <a:r>
              <a:rPr lang="en-US" sz="1900" dirty="0" err="1">
                <a:latin typeface="Times New Roman" panose="02020603050405020304" pitchFamily="18" charset="0"/>
                <a:cs typeface="Times New Roman" panose="02020603050405020304" pitchFamily="18" charset="0"/>
              </a:rPr>
              <a:t>DeepLatent</a:t>
            </a:r>
            <a:r>
              <a:rPr lang="en-US" sz="1900" dirty="0">
                <a:latin typeface="Times New Roman" panose="02020603050405020304" pitchFamily="18" charset="0"/>
                <a:cs typeface="Times New Roman" panose="02020603050405020304" pitchFamily="18" charset="0"/>
              </a:rPr>
              <a:t>-Forest model combining a deep autoencoder with Random Forest for 5G performance monitoring.</a:t>
            </a:r>
          </a:p>
          <a:p>
            <a:pPr>
              <a:lnSpc>
                <a:spcPct val="160000"/>
              </a:lnSpc>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 Uses unsupervised deep autoencoder–based feature extraction to handle high-dimensional and noisy 5G network data.</a:t>
            </a:r>
          </a:p>
          <a:p>
            <a:pPr>
              <a:lnSpc>
                <a:spcPct val="160000"/>
              </a:lnSpc>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 Enables proactive prediction of dropped connections instead of reactive fault detection.</a:t>
            </a:r>
          </a:p>
          <a:p>
            <a:pPr>
              <a:lnSpc>
                <a:spcPct val="160000"/>
              </a:lnSpc>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 Achieves higher accuracy and robustness compared to traditional ML classifiers like KNN, </a:t>
            </a:r>
            <a:r>
              <a:rPr lang="en-US" sz="1900" dirty="0" err="1">
                <a:latin typeface="Times New Roman" panose="02020603050405020304" pitchFamily="18" charset="0"/>
                <a:cs typeface="Times New Roman" panose="02020603050405020304" pitchFamily="18" charset="0"/>
              </a:rPr>
              <a:t>XGBoost</a:t>
            </a:r>
            <a:r>
              <a:rPr lang="en-US" sz="1900" dirty="0">
                <a:latin typeface="Times New Roman" panose="02020603050405020304" pitchFamily="18" charset="0"/>
                <a:cs typeface="Times New Roman" panose="02020603050405020304" pitchFamily="18" charset="0"/>
              </a:rPr>
              <a:t>, and </a:t>
            </a:r>
            <a:r>
              <a:rPr lang="en-US" sz="1900" dirty="0" err="1">
                <a:latin typeface="Times New Roman" panose="02020603050405020304" pitchFamily="18" charset="0"/>
                <a:cs typeface="Times New Roman" panose="02020603050405020304" pitchFamily="18" charset="0"/>
              </a:rPr>
              <a:t>CatBoost</a:t>
            </a:r>
            <a:r>
              <a:rPr lang="en-US" sz="1900" dirty="0">
                <a:latin typeface="Times New Roman" panose="02020603050405020304" pitchFamily="18" charset="0"/>
                <a:cs typeface="Times New Roman" panose="02020603050405020304" pitchFamily="18" charset="0"/>
              </a:rPr>
              <a:t>.</a:t>
            </a:r>
          </a:p>
          <a:p>
            <a:pPr>
              <a:lnSpc>
                <a:spcPct val="160000"/>
              </a:lnSpc>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 Integrates the model into a GUI-based, role-secured system, making advanced ML accessible for real-world network operations.</a:t>
            </a:r>
            <a:endParaRPr lang="en-IN" sz="1900" dirty="0">
              <a:latin typeface="Times New Roman" panose="02020603050405020304" pitchFamily="18" charset="0"/>
              <a:cs typeface="Times New Roman" panose="02020603050405020304" pitchFamily="18" charset="0"/>
            </a:endParaRPr>
          </a:p>
        </p:txBody>
      </p:sp>
      <p:pic>
        <p:nvPicPr>
          <p:cNvPr id="4" name="Picture 3" descr="A logo with a flower&#10;&#10;Description automatically generated">
            <a:extLst>
              <a:ext uri="{FF2B5EF4-FFF2-40B4-BE49-F238E27FC236}">
                <a16:creationId xmlns:a16="http://schemas.microsoft.com/office/drawing/2014/main" id="{6A3CE753-5406-D984-5479-B3657ADCECE2}"/>
              </a:ext>
              <a:ext uri="{4D361329-0F30-4A96-88F2-EE23789D81CF}">
                <a16:creationId xmlns:lc="http://schemas.openxmlformats.org/drawingml/2006/lockedCanvas"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87893E9-B8D9-47BB-B8B0-4F598E8A20C2}"/>
              </a:ext>
            </a:extLst>
          </p:cNvPr>
          <p:cNvPicPr>
            <a:picLocks noChangeAspect="1"/>
          </p:cNvPicPr>
          <p:nvPr/>
        </p:nvPicPr>
        <p:blipFill>
          <a:blip r:embed="rId2"/>
          <a:stretch>
            <a:fillRect/>
          </a:stretch>
        </p:blipFill>
        <p:spPr>
          <a:xfrm>
            <a:off x="6717793" y="528506"/>
            <a:ext cx="1648967" cy="1023458"/>
          </a:xfrm>
          <a:prstGeom prst="rect">
            <a:avLst/>
          </a:prstGeom>
          <a:noFill/>
        </p:spPr>
      </p:pic>
    </p:spTree>
    <p:extLst>
      <p:ext uri="{BB962C8B-B14F-4D97-AF65-F5344CB8AC3E}">
        <p14:creationId xmlns:p14="http://schemas.microsoft.com/office/powerpoint/2010/main" val="3189248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5B00A-B051-AE04-FDDB-D034C7F0063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SYSTEM ARCHITECTURE </a:t>
            </a:r>
            <a:r>
              <a:rPr lang="en-US" b="1" dirty="0"/>
              <a:t>              </a:t>
            </a:r>
            <a:endParaRPr lang="en-IN" b="1" dirty="0"/>
          </a:p>
        </p:txBody>
      </p:sp>
      <p:sp>
        <p:nvSpPr>
          <p:cNvPr id="3" name="Content Placeholder 2">
            <a:extLst>
              <a:ext uri="{FF2B5EF4-FFF2-40B4-BE49-F238E27FC236}">
                <a16:creationId xmlns:a16="http://schemas.microsoft.com/office/drawing/2014/main" id="{016A88F5-87E2-B901-2AAB-D1481109F3A7}"/>
              </a:ext>
            </a:extLst>
          </p:cNvPr>
          <p:cNvSpPr>
            <a:spLocks noGrp="1"/>
          </p:cNvSpPr>
          <p:nvPr>
            <p:ph idx="1"/>
          </p:nvPr>
        </p:nvSpPr>
        <p:spPr>
          <a:xfrm>
            <a:off x="822959" y="1820411"/>
            <a:ext cx="7543801" cy="4194495"/>
          </a:xfrm>
        </p:spPr>
        <p:txBody>
          <a:bodyPr>
            <a:normAutofit/>
          </a:bodyPr>
          <a:lstStyle/>
          <a:p>
            <a:pPr marL="0" indent="0">
              <a:lnSpc>
                <a:spcPct val="170000"/>
              </a:lnSpc>
              <a:buNone/>
            </a:pPr>
            <a:endParaRPr lang="en-US" dirty="0"/>
          </a:p>
          <a:p>
            <a:pPr marL="0" indent="0">
              <a:lnSpc>
                <a:spcPct val="170000"/>
              </a:lnSpc>
              <a:buNone/>
            </a:pPr>
            <a:endParaRPr lang="en-IN" dirty="0"/>
          </a:p>
        </p:txBody>
      </p:sp>
      <p:pic>
        <p:nvPicPr>
          <p:cNvPr id="4" name="Picture 3" descr="A logo with a flower&#10;&#10;Description automatically generated">
            <a:extLst>
              <a:ext uri="{FF2B5EF4-FFF2-40B4-BE49-F238E27FC236}">
                <a16:creationId xmlns:a16="http://schemas.microsoft.com/office/drawing/2014/main" id="{C5199E59-70F0-05B2-CCAE-5330EA67ECA5}"/>
              </a:ext>
              <a:ext uri="{4D361329-0F30-4A96-88F2-EE23789D81CF}">
                <a16:creationId xmlns:lc="http://schemas.openxmlformats.org/drawingml/2006/lockedCanvas"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87893E9-B8D9-47BB-B8B0-4F598E8A20C2}"/>
              </a:ext>
            </a:extLst>
          </p:cNvPr>
          <p:cNvPicPr>
            <a:picLocks noChangeAspect="1"/>
          </p:cNvPicPr>
          <p:nvPr/>
        </p:nvPicPr>
        <p:blipFill>
          <a:blip r:embed="rId2"/>
          <a:stretch>
            <a:fillRect/>
          </a:stretch>
        </p:blipFill>
        <p:spPr>
          <a:xfrm>
            <a:off x="6717793" y="444617"/>
            <a:ext cx="1648967" cy="1057012"/>
          </a:xfrm>
          <a:prstGeom prst="rect">
            <a:avLst/>
          </a:prstGeom>
          <a:noFill/>
        </p:spPr>
      </p:pic>
      <p:pic>
        <p:nvPicPr>
          <p:cNvPr id="5" name="Picture 4">
            <a:extLst>
              <a:ext uri="{FF2B5EF4-FFF2-40B4-BE49-F238E27FC236}">
                <a16:creationId xmlns:a16="http://schemas.microsoft.com/office/drawing/2014/main" id="{A2AD1C37-38F2-80EE-8263-4621E256FC7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t="19121" b="14505"/>
          <a:stretch>
            <a:fillRect/>
          </a:stretch>
        </p:blipFill>
        <p:spPr>
          <a:xfrm>
            <a:off x="973394" y="2084438"/>
            <a:ext cx="7124711" cy="3785419"/>
          </a:xfrm>
          <a:prstGeom prst="rect">
            <a:avLst/>
          </a:prstGeom>
          <a:noFill/>
          <a:ln>
            <a:noFill/>
          </a:ln>
        </p:spPr>
      </p:pic>
    </p:spTree>
    <p:extLst>
      <p:ext uri="{BB962C8B-B14F-4D97-AF65-F5344CB8AC3E}">
        <p14:creationId xmlns:p14="http://schemas.microsoft.com/office/powerpoint/2010/main" val="3384718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D7920-0230-65F8-6046-9DB255C5FC7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MODULES </a:t>
            </a:r>
            <a:r>
              <a:rPr lang="en-US" b="1" dirty="0"/>
              <a:t>              </a:t>
            </a:r>
            <a:endParaRPr lang="en-IN" b="1" dirty="0"/>
          </a:p>
        </p:txBody>
      </p:sp>
      <p:sp>
        <p:nvSpPr>
          <p:cNvPr id="3" name="Content Placeholder 2">
            <a:extLst>
              <a:ext uri="{FF2B5EF4-FFF2-40B4-BE49-F238E27FC236}">
                <a16:creationId xmlns:a16="http://schemas.microsoft.com/office/drawing/2014/main" id="{3DA4946F-7998-7836-0BFE-7DC0179A98BF}"/>
              </a:ext>
            </a:extLst>
          </p:cNvPr>
          <p:cNvSpPr>
            <a:spLocks noGrp="1"/>
          </p:cNvSpPr>
          <p:nvPr>
            <p:ph idx="1"/>
          </p:nvPr>
        </p:nvSpPr>
        <p:spPr>
          <a:xfrm>
            <a:off x="822959" y="1845733"/>
            <a:ext cx="7543801" cy="4177561"/>
          </a:xfrm>
        </p:spPr>
        <p:txBody>
          <a:bodyPr>
            <a:normAutofit fontScale="77500" lnSpcReduction="20000"/>
          </a:bodyPr>
          <a:lstStyle/>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Dataset Collection Module</a:t>
            </a:r>
          </a:p>
          <a:p>
            <a:pPr marL="0" indent="0">
              <a:buNone/>
            </a:pPr>
            <a:r>
              <a:rPr lang="en-IN" dirty="0">
                <a:latin typeface="Times New Roman" panose="02020603050405020304" pitchFamily="18" charset="0"/>
                <a:cs typeface="Times New Roman" panose="02020603050405020304" pitchFamily="18" charset="0"/>
              </a:rPr>
              <a:t>  Collects 5G network performance data such as signal strength and speed.</a:t>
            </a:r>
          </a:p>
          <a:p>
            <a:pPr marL="0" indent="0">
              <a:buNone/>
            </a:pPr>
            <a:r>
              <a:rPr lang="en-IN" dirty="0">
                <a:latin typeface="Times New Roman" panose="02020603050405020304" pitchFamily="18" charset="0"/>
                <a:cs typeface="Times New Roman" panose="02020603050405020304" pitchFamily="18" charset="0"/>
              </a:rPr>
              <a:t>  Stores data for preprocessing and model training.</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Preprocessing Module</a:t>
            </a:r>
          </a:p>
          <a:p>
            <a:pPr marL="0" indent="0">
              <a:buNone/>
            </a:pPr>
            <a:r>
              <a:rPr lang="en-IN" dirty="0">
                <a:latin typeface="Times New Roman" panose="02020603050405020304" pitchFamily="18" charset="0"/>
                <a:cs typeface="Times New Roman" panose="02020603050405020304" pitchFamily="18" charset="0"/>
              </a:rPr>
              <a:t>  Cleans data, removes irrelevant columns, and handles missing values.</a:t>
            </a:r>
          </a:p>
          <a:p>
            <a:pPr marL="0" indent="0">
              <a:buNone/>
            </a:pPr>
            <a:r>
              <a:rPr lang="en-IN" dirty="0">
                <a:latin typeface="Times New Roman" panose="02020603050405020304" pitchFamily="18" charset="0"/>
                <a:cs typeface="Times New Roman" panose="02020603050405020304" pitchFamily="18" charset="0"/>
              </a:rPr>
              <a:t>  Encodes categorical features and applies feature scaling.</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Exploratory Data Analysis Module</a:t>
            </a:r>
          </a:p>
          <a:p>
            <a:pPr marL="0" inden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data patterns related to dropped connections.</a:t>
            </a:r>
          </a:p>
          <a:p>
            <a:pPr marL="0" indent="0">
              <a:buNone/>
            </a:pPr>
            <a:r>
              <a:rPr lang="en-IN" dirty="0">
                <a:latin typeface="Times New Roman" panose="02020603050405020304" pitchFamily="18" charset="0"/>
                <a:cs typeface="Times New Roman" panose="02020603050405020304" pitchFamily="18" charset="0"/>
              </a:rPr>
              <a:t>  Visualizes correlations and class distributions.</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Baseline Machine Learning Module</a:t>
            </a:r>
          </a:p>
          <a:p>
            <a:pPr marL="0" indent="0">
              <a:buNone/>
            </a:pPr>
            <a:r>
              <a:rPr lang="en-IN" dirty="0">
                <a:latin typeface="Times New Roman" panose="02020603050405020304" pitchFamily="18" charset="0"/>
                <a:cs typeface="Times New Roman" panose="02020603050405020304" pitchFamily="18" charset="0"/>
              </a:rPr>
              <a:t>  Trains KNN, </a:t>
            </a:r>
            <a:r>
              <a:rPr lang="en-IN" dirty="0" err="1">
                <a:latin typeface="Times New Roman" panose="02020603050405020304" pitchFamily="18" charset="0"/>
                <a:cs typeface="Times New Roman" panose="02020603050405020304" pitchFamily="18" charset="0"/>
              </a:rPr>
              <a:t>CatBoost</a:t>
            </a:r>
            <a:r>
              <a:rPr lang="en-IN" dirty="0">
                <a:latin typeface="Times New Roman" panose="02020603050405020304" pitchFamily="18" charset="0"/>
                <a:cs typeface="Times New Roman" panose="02020603050405020304" pitchFamily="18" charset="0"/>
              </a:rPr>
              <a:t>, and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models.</a:t>
            </a:r>
          </a:p>
          <a:p>
            <a:pPr marL="0" indent="0">
              <a:buNone/>
            </a:pPr>
            <a:r>
              <a:rPr lang="en-IN" dirty="0">
                <a:latin typeface="Times New Roman" panose="02020603050405020304" pitchFamily="18" charset="0"/>
                <a:cs typeface="Times New Roman" panose="02020603050405020304" pitchFamily="18" charset="0"/>
              </a:rPr>
              <a:t>  Provides baseline performance for comparison.</a:t>
            </a:r>
          </a:p>
          <a:p>
            <a:endParaRPr lang="en-IN" dirty="0"/>
          </a:p>
        </p:txBody>
      </p:sp>
      <p:pic>
        <p:nvPicPr>
          <p:cNvPr id="4" name="Picture 3" descr="A logo with a flower&#10;&#10;Description automatically generated">
            <a:extLst>
              <a:ext uri="{FF2B5EF4-FFF2-40B4-BE49-F238E27FC236}">
                <a16:creationId xmlns:a16="http://schemas.microsoft.com/office/drawing/2014/main" id="{79B30B36-360C-FAAD-5370-127C194F82B7}"/>
              </a:ext>
              <a:ext uri="{4D361329-0F30-4A96-88F2-EE23789D81CF}">
                <a16:creationId xmlns:lc="http://schemas.openxmlformats.org/drawingml/2006/lockedCanvas"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87893E9-B8D9-47BB-B8B0-4F598E8A20C2}"/>
              </a:ext>
            </a:extLst>
          </p:cNvPr>
          <p:cNvPicPr>
            <a:picLocks noChangeAspect="1"/>
          </p:cNvPicPr>
          <p:nvPr/>
        </p:nvPicPr>
        <p:blipFill>
          <a:blip r:embed="rId2"/>
          <a:stretch>
            <a:fillRect/>
          </a:stretch>
        </p:blipFill>
        <p:spPr>
          <a:xfrm>
            <a:off x="6717793" y="620785"/>
            <a:ext cx="1648967" cy="838900"/>
          </a:xfrm>
          <a:prstGeom prst="rect">
            <a:avLst/>
          </a:prstGeom>
          <a:noFill/>
        </p:spPr>
      </p:pic>
    </p:spTree>
    <p:extLst>
      <p:ext uri="{BB962C8B-B14F-4D97-AF65-F5344CB8AC3E}">
        <p14:creationId xmlns:p14="http://schemas.microsoft.com/office/powerpoint/2010/main" val="3741830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1157A-1381-853C-B46E-AFEEDFCCFF2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MODULES    </a:t>
            </a:r>
            <a:r>
              <a:rPr lang="en-US" b="1" dirty="0"/>
              <a:t>           </a:t>
            </a:r>
            <a:endParaRPr lang="en-IN" b="1" dirty="0"/>
          </a:p>
        </p:txBody>
      </p:sp>
      <p:sp>
        <p:nvSpPr>
          <p:cNvPr id="3" name="Content Placeholder 2">
            <a:extLst>
              <a:ext uri="{FF2B5EF4-FFF2-40B4-BE49-F238E27FC236}">
                <a16:creationId xmlns:a16="http://schemas.microsoft.com/office/drawing/2014/main" id="{CB805D2D-F2D4-ECF6-8896-192173198D15}"/>
              </a:ext>
            </a:extLst>
          </p:cNvPr>
          <p:cNvSpPr>
            <a:spLocks noGrp="1"/>
          </p:cNvSpPr>
          <p:nvPr>
            <p:ph idx="1"/>
          </p:nvPr>
        </p:nvSpPr>
        <p:spPr>
          <a:xfrm>
            <a:off x="822959" y="1820411"/>
            <a:ext cx="7543801" cy="4471331"/>
          </a:xfrm>
        </p:spPr>
        <p:txBody>
          <a:bodyPr>
            <a:normAutofit fontScale="85000" lnSpcReduction="20000"/>
          </a:bodyPr>
          <a:lstStyle/>
          <a:p>
            <a:pPr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Autoencoder Feature Extraction Module</a:t>
            </a:r>
          </a:p>
          <a:p>
            <a:pPr marL="0" indent="0" algn="just">
              <a:buNone/>
            </a:pPr>
            <a:r>
              <a:rPr lang="en-IN" dirty="0">
                <a:latin typeface="Times New Roman" panose="02020603050405020304" pitchFamily="18" charset="0"/>
                <a:cs typeface="Times New Roman" panose="02020603050405020304" pitchFamily="18" charset="0"/>
              </a:rPr>
              <a:t>   Learns compact latent features from high-dimensional data.</a:t>
            </a:r>
          </a:p>
          <a:p>
            <a:pPr marL="0" indent="0" algn="just">
              <a:buNone/>
            </a:pPr>
            <a:r>
              <a:rPr lang="en-IN" dirty="0">
                <a:latin typeface="Times New Roman" panose="02020603050405020304" pitchFamily="18" charset="0"/>
                <a:cs typeface="Times New Roman" panose="02020603050405020304" pitchFamily="18" charset="0"/>
              </a:rPr>
              <a:t>   Reduces noise and redundancy in network parameters.</a:t>
            </a:r>
          </a:p>
          <a:p>
            <a:pPr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 Hybrid Deep Latent Forest Module</a:t>
            </a:r>
          </a:p>
          <a:p>
            <a:pPr marL="0" indent="0" algn="just">
              <a:buNone/>
            </a:pPr>
            <a:r>
              <a:rPr lang="en-IN" dirty="0">
                <a:latin typeface="Times New Roman" panose="02020603050405020304" pitchFamily="18" charset="0"/>
                <a:cs typeface="Times New Roman" panose="02020603050405020304" pitchFamily="18" charset="0"/>
              </a:rPr>
              <a:t>   Combines autoencoder features with Random Forest classifier.</a:t>
            </a:r>
          </a:p>
          <a:p>
            <a:pPr marL="0" indent="0" algn="just">
              <a:buNone/>
            </a:pPr>
            <a:r>
              <a:rPr lang="en-IN" dirty="0">
                <a:latin typeface="Times New Roman" panose="02020603050405020304" pitchFamily="18" charset="0"/>
                <a:cs typeface="Times New Roman" panose="02020603050405020304" pitchFamily="18" charset="0"/>
              </a:rPr>
              <a:t>   Improves accuracy in dropped connection prediction.</a:t>
            </a:r>
          </a:p>
          <a:p>
            <a:pPr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 Model Evaluation Module</a:t>
            </a:r>
          </a:p>
          <a:p>
            <a:pPr marL="0" indent="0" algn="just">
              <a:buNone/>
            </a:pPr>
            <a:r>
              <a:rPr lang="en-IN" dirty="0">
                <a:latin typeface="Times New Roman" panose="02020603050405020304" pitchFamily="18" charset="0"/>
                <a:cs typeface="Times New Roman" panose="02020603050405020304" pitchFamily="18" charset="0"/>
              </a:rPr>
              <a:t>    Calculates accuracy, precision, recall, and F1-score.</a:t>
            </a:r>
          </a:p>
          <a:p>
            <a:pPr marL="0" indent="0" algn="just">
              <a:buNone/>
            </a:pPr>
            <a:r>
              <a:rPr lang="en-IN" dirty="0">
                <a:latin typeface="Times New Roman" panose="02020603050405020304" pitchFamily="18" charset="0"/>
                <a:cs typeface="Times New Roman" panose="02020603050405020304" pitchFamily="18" charset="0"/>
              </a:rPr>
              <a:t>    Generates confusion matrices for analysis.</a:t>
            </a:r>
          </a:p>
          <a:p>
            <a:pPr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 Prediction Module</a:t>
            </a:r>
          </a:p>
          <a:p>
            <a:pPr marL="0" indent="0" algn="just">
              <a:buNone/>
            </a:pPr>
            <a:r>
              <a:rPr lang="en-IN" dirty="0">
                <a:latin typeface="Times New Roman" panose="02020603050405020304" pitchFamily="18" charset="0"/>
                <a:cs typeface="Times New Roman" panose="02020603050405020304" pitchFamily="18" charset="0"/>
              </a:rPr>
              <a:t>   Predicts dropped connections for new 5G data.</a:t>
            </a:r>
          </a:p>
          <a:p>
            <a:pPr marL="0" indent="0" algn="just">
              <a:buNone/>
            </a:pPr>
            <a:r>
              <a:rPr lang="en-IN" dirty="0">
                <a:latin typeface="Times New Roman" panose="02020603050405020304" pitchFamily="18" charset="0"/>
                <a:cs typeface="Times New Roman" panose="02020603050405020304" pitchFamily="18" charset="0"/>
              </a:rPr>
              <a:t>   Appends prediction results to the dataset.</a:t>
            </a:r>
          </a:p>
        </p:txBody>
      </p:sp>
      <p:pic>
        <p:nvPicPr>
          <p:cNvPr id="4" name="Picture 3" descr="A logo with a flower&#10;&#10;Description automatically generated">
            <a:extLst>
              <a:ext uri="{FF2B5EF4-FFF2-40B4-BE49-F238E27FC236}">
                <a16:creationId xmlns:a16="http://schemas.microsoft.com/office/drawing/2014/main" id="{66E02D1A-F4F9-9DF3-6D12-D7AC62005E5C}"/>
              </a:ext>
              <a:ext uri="{4D361329-0F30-4A96-88F2-EE23789D81CF}">
                <a16:creationId xmlns:lc="http://schemas.openxmlformats.org/drawingml/2006/lockedCanvas"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87893E9-B8D9-47BB-B8B0-4F598E8A20C2}"/>
              </a:ext>
            </a:extLst>
          </p:cNvPr>
          <p:cNvPicPr>
            <a:picLocks noChangeAspect="1"/>
          </p:cNvPicPr>
          <p:nvPr/>
        </p:nvPicPr>
        <p:blipFill>
          <a:blip r:embed="rId2"/>
          <a:stretch>
            <a:fillRect/>
          </a:stretch>
        </p:blipFill>
        <p:spPr>
          <a:xfrm>
            <a:off x="6717793" y="729842"/>
            <a:ext cx="1648967" cy="763398"/>
          </a:xfrm>
          <a:prstGeom prst="rect">
            <a:avLst/>
          </a:prstGeom>
          <a:noFill/>
        </p:spPr>
      </p:pic>
    </p:spTree>
    <p:extLst>
      <p:ext uri="{BB962C8B-B14F-4D97-AF65-F5344CB8AC3E}">
        <p14:creationId xmlns:p14="http://schemas.microsoft.com/office/powerpoint/2010/main" val="2615086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7982E-8025-5099-D805-9BC19053A51C}"/>
              </a:ext>
            </a:extLst>
          </p:cNvPr>
          <p:cNvSpPr>
            <a:spLocks noGrp="1"/>
          </p:cNvSpPr>
          <p:nvPr>
            <p:ph type="title"/>
          </p:nvPr>
        </p:nvSpPr>
        <p:spPr>
          <a:xfrm>
            <a:off x="628996" y="286604"/>
            <a:ext cx="7543800" cy="1450757"/>
          </a:xfrm>
        </p:spPr>
        <p:txBody>
          <a:bodyPr/>
          <a:lstStyle/>
          <a:p>
            <a:r>
              <a:rPr lang="en-US" b="1" dirty="0">
                <a:latin typeface="Times New Roman" panose="02020603050405020304" pitchFamily="18" charset="0"/>
                <a:cs typeface="Times New Roman" panose="02020603050405020304" pitchFamily="18" charset="0"/>
              </a:rPr>
              <a:t>USE CASE DIAGRAM</a:t>
            </a:r>
            <a:endParaRPr lang="en-IN" b="1" dirty="0">
              <a:latin typeface="Times New Roman" panose="02020603050405020304" pitchFamily="18" charset="0"/>
              <a:cs typeface="Times New Roman" panose="02020603050405020304" pitchFamily="18" charset="0"/>
            </a:endParaRPr>
          </a:p>
        </p:txBody>
      </p:sp>
      <p:pic>
        <p:nvPicPr>
          <p:cNvPr id="4" name="Picture 3" descr="A logo with a flower&#10;&#10;Description automatically generated">
            <a:extLst>
              <a:ext uri="{FF2B5EF4-FFF2-40B4-BE49-F238E27FC236}">
                <a16:creationId xmlns:a16="http://schemas.microsoft.com/office/drawing/2014/main" id="{50AFDC88-BCFB-2205-4EEA-2DC50B468A32}"/>
              </a:ext>
              <a:ext uri="{4D361329-0F30-4A96-88F2-EE23789D81CF}">
                <a16:creationId xmlns:lc="http://schemas.openxmlformats.org/drawingml/2006/lockedCanvas"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87893E9-B8D9-47BB-B8B0-4F598E8A20C2}"/>
              </a:ext>
            </a:extLst>
          </p:cNvPr>
          <p:cNvPicPr>
            <a:picLocks noChangeAspect="1"/>
          </p:cNvPicPr>
          <p:nvPr/>
        </p:nvPicPr>
        <p:blipFill>
          <a:blip r:embed="rId2"/>
          <a:stretch>
            <a:fillRect/>
          </a:stretch>
        </p:blipFill>
        <p:spPr>
          <a:xfrm>
            <a:off x="6837028" y="578840"/>
            <a:ext cx="1529732" cy="961648"/>
          </a:xfrm>
          <a:prstGeom prst="rect">
            <a:avLst/>
          </a:prstGeom>
          <a:noFill/>
        </p:spPr>
      </p:pic>
      <p:sp>
        <p:nvSpPr>
          <p:cNvPr id="7" name="Content Placeholder 6">
            <a:extLst>
              <a:ext uri="{FF2B5EF4-FFF2-40B4-BE49-F238E27FC236}">
                <a16:creationId xmlns:a16="http://schemas.microsoft.com/office/drawing/2014/main" id="{F803E432-5DF2-0747-B409-A168604519C8}"/>
              </a:ext>
            </a:extLst>
          </p:cNvPr>
          <p:cNvSpPr>
            <a:spLocks noGrp="1"/>
          </p:cNvSpPr>
          <p:nvPr>
            <p:ph idx="1"/>
          </p:nvPr>
        </p:nvSpPr>
        <p:spPr/>
        <p:txBody>
          <a:bodyPr/>
          <a:lstStyle/>
          <a:p>
            <a:pPr marL="0" indent="0">
              <a:buNone/>
            </a:pPr>
            <a:endParaRPr lang="en-US" dirty="0"/>
          </a:p>
          <a:p>
            <a:pPr marL="0" indent="0">
              <a:buNone/>
            </a:pPr>
            <a:endParaRPr lang="en-IN" dirty="0"/>
          </a:p>
        </p:txBody>
      </p:sp>
      <p:pic>
        <p:nvPicPr>
          <p:cNvPr id="8" name="Picture 7" descr="PlantUML diagram">
            <a:extLst>
              <a:ext uri="{FF2B5EF4-FFF2-40B4-BE49-F238E27FC236}">
                <a16:creationId xmlns:a16="http://schemas.microsoft.com/office/drawing/2014/main" id="{A91A8FA5-9737-7DD5-A129-A0E415BB979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9292" y="2441197"/>
            <a:ext cx="6845416" cy="2323750"/>
          </a:xfrm>
          <a:prstGeom prst="rect">
            <a:avLst/>
          </a:prstGeom>
          <a:noFill/>
          <a:ln>
            <a:noFill/>
          </a:ln>
        </p:spPr>
      </p:pic>
    </p:spTree>
    <p:extLst>
      <p:ext uri="{BB962C8B-B14F-4D97-AF65-F5344CB8AC3E}">
        <p14:creationId xmlns:p14="http://schemas.microsoft.com/office/powerpoint/2010/main" val="1900150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B8E17-A854-D31E-7783-D0D10BD0466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CLASS DIAGRAM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978F72C-08BC-7709-E172-F4F89491658D}"/>
              </a:ext>
            </a:extLst>
          </p:cNvPr>
          <p:cNvSpPr>
            <a:spLocks noGrp="1"/>
          </p:cNvSpPr>
          <p:nvPr>
            <p:ph idx="1"/>
          </p:nvPr>
        </p:nvSpPr>
        <p:spPr/>
        <p:txBody>
          <a:bodyPr/>
          <a:lstStyle/>
          <a:p>
            <a:endParaRPr lang="en-US" dirty="0"/>
          </a:p>
          <a:p>
            <a:endParaRPr lang="en-IN" dirty="0"/>
          </a:p>
        </p:txBody>
      </p:sp>
      <p:pic>
        <p:nvPicPr>
          <p:cNvPr id="5" name="Picture 4" descr="A logo with a flower&#10;&#10;Description automatically generated">
            <a:extLst>
              <a:ext uri="{FF2B5EF4-FFF2-40B4-BE49-F238E27FC236}">
                <a16:creationId xmlns:a16="http://schemas.microsoft.com/office/drawing/2014/main" id="{28F7B4AE-17E2-14D4-DDAD-BACFC4657853}"/>
              </a:ext>
              <a:ext uri="{4D361329-0F30-4A96-88F2-EE23789D81CF}">
                <a16:creationId xmlns:lc="http://schemas.openxmlformats.org/drawingml/2006/lockedCanvas"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87893E9-B8D9-47BB-B8B0-4F598E8A20C2}"/>
              </a:ext>
            </a:extLst>
          </p:cNvPr>
          <p:cNvPicPr>
            <a:picLocks noChangeAspect="1"/>
          </p:cNvPicPr>
          <p:nvPr/>
        </p:nvPicPr>
        <p:blipFill>
          <a:blip r:embed="rId2"/>
          <a:stretch>
            <a:fillRect/>
          </a:stretch>
        </p:blipFill>
        <p:spPr>
          <a:xfrm>
            <a:off x="6717793" y="623491"/>
            <a:ext cx="1648967" cy="942544"/>
          </a:xfrm>
          <a:prstGeom prst="rect">
            <a:avLst/>
          </a:prstGeom>
          <a:noFill/>
        </p:spPr>
      </p:pic>
      <p:pic>
        <p:nvPicPr>
          <p:cNvPr id="10" name="Picture 9">
            <a:extLst>
              <a:ext uri="{FF2B5EF4-FFF2-40B4-BE49-F238E27FC236}">
                <a16:creationId xmlns:a16="http://schemas.microsoft.com/office/drawing/2014/main" id="{5FB83075-A69A-4F79-868F-2837BC574268}"/>
              </a:ext>
            </a:extLst>
          </p:cNvPr>
          <p:cNvPicPr>
            <a:picLocks noChangeAspect="1"/>
          </p:cNvPicPr>
          <p:nvPr/>
        </p:nvPicPr>
        <p:blipFill>
          <a:blip r:embed="rId3"/>
          <a:stretch>
            <a:fillRect/>
          </a:stretch>
        </p:blipFill>
        <p:spPr>
          <a:xfrm>
            <a:off x="1632856" y="2195284"/>
            <a:ext cx="5288643" cy="3673809"/>
          </a:xfrm>
          <a:prstGeom prst="rect">
            <a:avLst/>
          </a:prstGeom>
        </p:spPr>
      </p:pic>
    </p:spTree>
    <p:extLst>
      <p:ext uri="{BB962C8B-B14F-4D97-AF65-F5344CB8AC3E}">
        <p14:creationId xmlns:p14="http://schemas.microsoft.com/office/powerpoint/2010/main" val="329174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2E29B-7745-006F-C6E6-1560D7884200}"/>
              </a:ext>
            </a:extLst>
          </p:cNvPr>
          <p:cNvSpPr>
            <a:spLocks noGrp="1"/>
          </p:cNvSpPr>
          <p:nvPr>
            <p:ph type="title"/>
          </p:nvPr>
        </p:nvSpPr>
        <p:spPr>
          <a:xfrm>
            <a:off x="724599" y="286604"/>
            <a:ext cx="7543800" cy="1450757"/>
          </a:xfrm>
        </p:spPr>
        <p:txBody>
          <a:bodyPr>
            <a:normAutofit/>
          </a:bodyPr>
          <a:lstStyle/>
          <a:p>
            <a:r>
              <a:rPr lang="en-US" sz="4400" b="1" dirty="0">
                <a:latin typeface="Times New Roman" panose="02020603050405020304" pitchFamily="18" charset="0"/>
                <a:cs typeface="Times New Roman" panose="02020603050405020304" pitchFamily="18" charset="0"/>
              </a:rPr>
              <a:t>SEQUENCE DIAGRAM     </a:t>
            </a:r>
            <a:endParaRPr lang="en-IN" sz="4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005ED74-9507-8B0F-F360-0CF19246327E}"/>
              </a:ext>
            </a:extLst>
          </p:cNvPr>
          <p:cNvSpPr>
            <a:spLocks noGrp="1"/>
          </p:cNvSpPr>
          <p:nvPr>
            <p:ph idx="1"/>
          </p:nvPr>
        </p:nvSpPr>
        <p:spPr/>
        <p:txBody>
          <a:bodyPr/>
          <a:lstStyle/>
          <a:p>
            <a:pPr marL="0" indent="0">
              <a:buNone/>
            </a:pPr>
            <a:endParaRPr lang="en-US" dirty="0"/>
          </a:p>
          <a:p>
            <a:pPr marL="0" indent="0">
              <a:buNone/>
            </a:pPr>
            <a:endParaRPr lang="en-IN" dirty="0"/>
          </a:p>
        </p:txBody>
      </p:sp>
      <p:pic>
        <p:nvPicPr>
          <p:cNvPr id="4" name="Picture 3" descr="PlantUML diagram">
            <a:extLst>
              <a:ext uri="{FF2B5EF4-FFF2-40B4-BE49-F238E27FC236}">
                <a16:creationId xmlns:a16="http://schemas.microsoft.com/office/drawing/2014/main" id="{511D0182-F078-7096-A216-98E30076351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91237" y="2223083"/>
            <a:ext cx="6610524" cy="3120703"/>
          </a:xfrm>
          <a:prstGeom prst="rect">
            <a:avLst/>
          </a:prstGeom>
          <a:noFill/>
          <a:ln>
            <a:noFill/>
          </a:ln>
        </p:spPr>
      </p:pic>
      <p:pic>
        <p:nvPicPr>
          <p:cNvPr id="5" name="Picture 4" descr="A logo with a flower&#10;&#10;Description automatically generated">
            <a:extLst>
              <a:ext uri="{FF2B5EF4-FFF2-40B4-BE49-F238E27FC236}">
                <a16:creationId xmlns:a16="http://schemas.microsoft.com/office/drawing/2014/main" id="{A862B6FB-3D74-7043-3DEC-75B8DF932530}"/>
              </a:ext>
              <a:ext uri="{4D361329-0F30-4A96-88F2-EE23789D81CF}">
                <a16:creationId xmlns:lc="http://schemas.openxmlformats.org/drawingml/2006/lockedCanvas"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87893E9-B8D9-47BB-B8B0-4F598E8A20C2}"/>
              </a:ext>
            </a:extLst>
          </p:cNvPr>
          <p:cNvPicPr>
            <a:picLocks noChangeAspect="1"/>
          </p:cNvPicPr>
          <p:nvPr/>
        </p:nvPicPr>
        <p:blipFill>
          <a:blip r:embed="rId3"/>
          <a:stretch>
            <a:fillRect/>
          </a:stretch>
        </p:blipFill>
        <p:spPr>
          <a:xfrm>
            <a:off x="6717793" y="776059"/>
            <a:ext cx="1648967" cy="838900"/>
          </a:xfrm>
          <a:prstGeom prst="rect">
            <a:avLst/>
          </a:prstGeom>
          <a:noFill/>
        </p:spPr>
      </p:pic>
    </p:spTree>
    <p:extLst>
      <p:ext uri="{BB962C8B-B14F-4D97-AF65-F5344CB8AC3E}">
        <p14:creationId xmlns:p14="http://schemas.microsoft.com/office/powerpoint/2010/main" val="18452041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7AC88-7572-48DD-C328-4896061932BB}"/>
              </a:ext>
            </a:extLst>
          </p:cNvPr>
          <p:cNvSpPr>
            <a:spLocks noGrp="1"/>
          </p:cNvSpPr>
          <p:nvPr>
            <p:ph type="title"/>
          </p:nvPr>
        </p:nvSpPr>
        <p:spPr>
          <a:xfrm>
            <a:off x="649778" y="292224"/>
            <a:ext cx="7543800" cy="1450757"/>
          </a:xfrm>
        </p:spPr>
        <p:txBody>
          <a:bodyPr/>
          <a:lstStyle/>
          <a:p>
            <a:r>
              <a:rPr lang="en-US" b="1" dirty="0">
                <a:latin typeface="Times New Roman" panose="02020603050405020304" pitchFamily="18" charset="0"/>
                <a:cs typeface="Times New Roman" panose="02020603050405020304" pitchFamily="18" charset="0"/>
              </a:rPr>
              <a:t>ACTIVITY DIAGRAM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7BAA92C-9D4C-3159-6D38-F45077114BF0}"/>
              </a:ext>
            </a:extLst>
          </p:cNvPr>
          <p:cNvSpPr>
            <a:spLocks noGrp="1"/>
          </p:cNvSpPr>
          <p:nvPr>
            <p:ph idx="1"/>
          </p:nvPr>
        </p:nvSpPr>
        <p:spPr/>
        <p:txBody>
          <a:bodyPr/>
          <a:lstStyle/>
          <a:p>
            <a:endParaRPr lang="en-US" dirty="0"/>
          </a:p>
          <a:p>
            <a:endParaRPr lang="en-IN" dirty="0"/>
          </a:p>
        </p:txBody>
      </p:sp>
      <p:pic>
        <p:nvPicPr>
          <p:cNvPr id="4" name="Picture 3" descr="PlantUML diagram">
            <a:extLst>
              <a:ext uri="{FF2B5EF4-FFF2-40B4-BE49-F238E27FC236}">
                <a16:creationId xmlns:a16="http://schemas.microsoft.com/office/drawing/2014/main" id="{79145C70-8C83-3667-1D0A-1B1746C6C57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35277" y="2133600"/>
            <a:ext cx="4945626" cy="3923071"/>
          </a:xfrm>
          <a:prstGeom prst="rect">
            <a:avLst/>
          </a:prstGeom>
          <a:noFill/>
          <a:ln>
            <a:noFill/>
          </a:ln>
        </p:spPr>
      </p:pic>
      <p:pic>
        <p:nvPicPr>
          <p:cNvPr id="5" name="Picture 4" descr="A logo with a flower&#10;&#10;Description automatically generated">
            <a:extLst>
              <a:ext uri="{FF2B5EF4-FFF2-40B4-BE49-F238E27FC236}">
                <a16:creationId xmlns:a16="http://schemas.microsoft.com/office/drawing/2014/main" id="{D40DB2CC-DD4A-0D6F-9DBC-25D984AF4302}"/>
              </a:ext>
              <a:ext uri="{4D361329-0F30-4A96-88F2-EE23789D81CF}">
                <a16:creationId xmlns:lc="http://schemas.openxmlformats.org/drawingml/2006/lockedCanvas"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87893E9-B8D9-47BB-B8B0-4F598E8A20C2}"/>
              </a:ext>
            </a:extLst>
          </p:cNvPr>
          <p:cNvPicPr>
            <a:picLocks noChangeAspect="1"/>
          </p:cNvPicPr>
          <p:nvPr/>
        </p:nvPicPr>
        <p:blipFill>
          <a:blip r:embed="rId3"/>
          <a:stretch>
            <a:fillRect/>
          </a:stretch>
        </p:blipFill>
        <p:spPr>
          <a:xfrm>
            <a:off x="6862916" y="801329"/>
            <a:ext cx="1503844" cy="838900"/>
          </a:xfrm>
          <a:prstGeom prst="rect">
            <a:avLst/>
          </a:prstGeom>
          <a:noFill/>
        </p:spPr>
      </p:pic>
    </p:spTree>
    <p:extLst>
      <p:ext uri="{BB962C8B-B14F-4D97-AF65-F5344CB8AC3E}">
        <p14:creationId xmlns:p14="http://schemas.microsoft.com/office/powerpoint/2010/main" val="2633049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BC972-062A-4DE1-40A1-BF32F23307C0}"/>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SOURCE CODE</a:t>
            </a:r>
          </a:p>
        </p:txBody>
      </p:sp>
      <p:sp>
        <p:nvSpPr>
          <p:cNvPr id="7" name="Content Placeholder 6">
            <a:extLst>
              <a:ext uri="{FF2B5EF4-FFF2-40B4-BE49-F238E27FC236}">
                <a16:creationId xmlns:a16="http://schemas.microsoft.com/office/drawing/2014/main" id="{40D62B06-E703-DD76-D76C-F49D690AED9F}"/>
              </a:ext>
            </a:extLst>
          </p:cNvPr>
          <p:cNvSpPr>
            <a:spLocks noGrp="1"/>
          </p:cNvSpPr>
          <p:nvPr>
            <p:ph idx="1"/>
          </p:nvPr>
        </p:nvSpPr>
        <p:spPr/>
        <p:txBody>
          <a:bodyPr/>
          <a:lstStyle/>
          <a:p>
            <a:pPr marL="0" indent="0">
              <a:buNone/>
            </a:pPr>
            <a:endParaRPr lang="en-IN" dirty="0"/>
          </a:p>
          <a:p>
            <a:endParaRPr lang="en-IN" dirty="0"/>
          </a:p>
        </p:txBody>
      </p:sp>
      <p:pic>
        <p:nvPicPr>
          <p:cNvPr id="8" name="Content Placeholder 4">
            <a:extLst>
              <a:ext uri="{FF2B5EF4-FFF2-40B4-BE49-F238E27FC236}">
                <a16:creationId xmlns:a16="http://schemas.microsoft.com/office/drawing/2014/main" id="{463A58AD-F0B3-F7B5-2E78-38FD92EC1464}"/>
              </a:ext>
            </a:extLst>
          </p:cNvPr>
          <p:cNvPicPr>
            <a:picLocks noChangeAspect="1"/>
          </p:cNvPicPr>
          <p:nvPr/>
        </p:nvPicPr>
        <p:blipFill>
          <a:blip r:embed="rId2"/>
          <a:stretch>
            <a:fillRect/>
          </a:stretch>
        </p:blipFill>
        <p:spPr>
          <a:xfrm>
            <a:off x="936633" y="2101901"/>
            <a:ext cx="3546877" cy="4022725"/>
          </a:xfrm>
          <a:prstGeom prst="rect">
            <a:avLst/>
          </a:prstGeom>
        </p:spPr>
      </p:pic>
      <p:pic>
        <p:nvPicPr>
          <p:cNvPr id="10" name="Picture 9">
            <a:extLst>
              <a:ext uri="{FF2B5EF4-FFF2-40B4-BE49-F238E27FC236}">
                <a16:creationId xmlns:a16="http://schemas.microsoft.com/office/drawing/2014/main" id="{75A76C5B-6A5D-B833-CF1B-07065F763E7C}"/>
              </a:ext>
            </a:extLst>
          </p:cNvPr>
          <p:cNvPicPr>
            <a:picLocks noChangeAspect="1"/>
          </p:cNvPicPr>
          <p:nvPr/>
        </p:nvPicPr>
        <p:blipFill>
          <a:blip r:embed="rId3"/>
          <a:stretch>
            <a:fillRect/>
          </a:stretch>
        </p:blipFill>
        <p:spPr>
          <a:xfrm>
            <a:off x="4739147" y="2101901"/>
            <a:ext cx="3338541" cy="3931754"/>
          </a:xfrm>
          <a:prstGeom prst="rect">
            <a:avLst/>
          </a:prstGeom>
        </p:spPr>
      </p:pic>
    </p:spTree>
    <p:extLst>
      <p:ext uri="{BB962C8B-B14F-4D97-AF65-F5344CB8AC3E}">
        <p14:creationId xmlns:p14="http://schemas.microsoft.com/office/powerpoint/2010/main" val="22131671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4EB89E-BB42-F4D9-630D-BA2C266526B0}"/>
              </a:ext>
            </a:extLst>
          </p:cNvPr>
          <p:cNvPicPr>
            <a:picLocks noChangeAspect="1"/>
          </p:cNvPicPr>
          <p:nvPr/>
        </p:nvPicPr>
        <p:blipFill>
          <a:blip r:embed="rId2"/>
          <a:stretch>
            <a:fillRect/>
          </a:stretch>
        </p:blipFill>
        <p:spPr>
          <a:xfrm>
            <a:off x="181896" y="675520"/>
            <a:ext cx="3787431" cy="4907862"/>
          </a:xfrm>
          <a:prstGeom prst="rect">
            <a:avLst/>
          </a:prstGeom>
        </p:spPr>
      </p:pic>
      <p:pic>
        <p:nvPicPr>
          <p:cNvPr id="5" name="Picture 4">
            <a:extLst>
              <a:ext uri="{FF2B5EF4-FFF2-40B4-BE49-F238E27FC236}">
                <a16:creationId xmlns:a16="http://schemas.microsoft.com/office/drawing/2014/main" id="{F3E9A819-AC2C-6053-6029-0F4336E70BA6}"/>
              </a:ext>
            </a:extLst>
          </p:cNvPr>
          <p:cNvPicPr>
            <a:picLocks noChangeAspect="1"/>
          </p:cNvPicPr>
          <p:nvPr/>
        </p:nvPicPr>
        <p:blipFill>
          <a:blip r:embed="rId3"/>
          <a:stretch>
            <a:fillRect/>
          </a:stretch>
        </p:blipFill>
        <p:spPr>
          <a:xfrm>
            <a:off x="4660489" y="703676"/>
            <a:ext cx="3977820" cy="4976688"/>
          </a:xfrm>
          <a:prstGeom prst="rect">
            <a:avLst/>
          </a:prstGeom>
        </p:spPr>
      </p:pic>
    </p:spTree>
    <p:extLst>
      <p:ext uri="{BB962C8B-B14F-4D97-AF65-F5344CB8AC3E}">
        <p14:creationId xmlns:p14="http://schemas.microsoft.com/office/powerpoint/2010/main" val="116521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19EEBD74-E709-D13E-8A49-7F429CF39078}"/>
              </a:ext>
            </a:extLst>
          </p:cNvPr>
          <p:cNvPicPr>
            <a:picLocks noChangeAspect="1"/>
          </p:cNvPicPr>
          <p:nvPr/>
        </p:nvPicPr>
        <p:blipFill>
          <a:blip r:embed="rId2"/>
          <a:stretch>
            <a:fillRect/>
          </a:stretch>
        </p:blipFill>
        <p:spPr>
          <a:xfrm>
            <a:off x="284018" y="900545"/>
            <a:ext cx="3740728" cy="4842164"/>
          </a:xfrm>
          <a:prstGeom prst="rect">
            <a:avLst/>
          </a:prstGeom>
        </p:spPr>
      </p:pic>
      <p:pic>
        <p:nvPicPr>
          <p:cNvPr id="3" name="Picture 2">
            <a:extLst>
              <a:ext uri="{FF2B5EF4-FFF2-40B4-BE49-F238E27FC236}">
                <a16:creationId xmlns:a16="http://schemas.microsoft.com/office/drawing/2014/main" id="{21DCBEE2-E3C6-3DBA-0470-A720B95D0D7A}"/>
              </a:ext>
            </a:extLst>
          </p:cNvPr>
          <p:cNvPicPr>
            <a:picLocks noChangeAspect="1"/>
          </p:cNvPicPr>
          <p:nvPr/>
        </p:nvPicPr>
        <p:blipFill>
          <a:blip r:embed="rId3"/>
          <a:stretch>
            <a:fillRect/>
          </a:stretch>
        </p:blipFill>
        <p:spPr>
          <a:xfrm>
            <a:off x="4643060" y="1251937"/>
            <a:ext cx="3740728" cy="3915808"/>
          </a:xfrm>
          <a:prstGeom prst="rect">
            <a:avLst/>
          </a:prstGeom>
        </p:spPr>
      </p:pic>
    </p:spTree>
    <p:extLst>
      <p:ext uri="{BB962C8B-B14F-4D97-AF65-F5344CB8AC3E}">
        <p14:creationId xmlns:p14="http://schemas.microsoft.com/office/powerpoint/2010/main" val="1204265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1E7D6-6D7A-03FA-FF05-D7C28143F9FF}"/>
              </a:ext>
            </a:extLst>
          </p:cNvPr>
          <p:cNvSpPr>
            <a:spLocks noGrp="1"/>
          </p:cNvSpPr>
          <p:nvPr>
            <p:ph type="title"/>
          </p:nvPr>
        </p:nvSpPr>
        <p:spPr/>
        <p:txBody>
          <a:bodyPr>
            <a:normAutofit/>
          </a:bodyPr>
          <a:lstStyle/>
          <a:p>
            <a:r>
              <a:rPr lang="en-IN" b="1" dirty="0">
                <a:latin typeface="Times New Roman" panose="02020603050405020304" pitchFamily="18" charset="0"/>
                <a:cs typeface="Times New Roman" panose="02020603050405020304" pitchFamily="18" charset="0"/>
              </a:rPr>
              <a:t>RESULTS</a:t>
            </a:r>
          </a:p>
        </p:txBody>
      </p:sp>
      <p:sp>
        <p:nvSpPr>
          <p:cNvPr id="6" name="Content Placeholder 5">
            <a:extLst>
              <a:ext uri="{FF2B5EF4-FFF2-40B4-BE49-F238E27FC236}">
                <a16:creationId xmlns:a16="http://schemas.microsoft.com/office/drawing/2014/main" id="{DFAA92B4-07F8-A354-B7DD-2DBF4C075722}"/>
              </a:ext>
            </a:extLst>
          </p:cNvPr>
          <p:cNvSpPr>
            <a:spLocks noGrp="1"/>
          </p:cNvSpPr>
          <p:nvPr>
            <p:ph idx="1"/>
          </p:nvPr>
        </p:nvSpPr>
        <p:spPr/>
        <p:txBody>
          <a:bodyPr/>
          <a:lstStyle/>
          <a:p>
            <a:endParaRPr lang="en-IN" dirty="0"/>
          </a:p>
          <a:p>
            <a:endParaRPr lang="en-IN" dirty="0"/>
          </a:p>
        </p:txBody>
      </p:sp>
      <p:pic>
        <p:nvPicPr>
          <p:cNvPr id="7" name="Picture 6">
            <a:extLst>
              <a:ext uri="{FF2B5EF4-FFF2-40B4-BE49-F238E27FC236}">
                <a16:creationId xmlns:a16="http://schemas.microsoft.com/office/drawing/2014/main" id="{34C25908-06A9-4AAE-4AAD-4A17ADEECA9F}"/>
              </a:ext>
            </a:extLst>
          </p:cNvPr>
          <p:cNvPicPr>
            <a:picLocks noChangeAspect="1"/>
          </p:cNvPicPr>
          <p:nvPr/>
        </p:nvPicPr>
        <p:blipFill>
          <a:blip r:embed="rId2"/>
          <a:stretch>
            <a:fillRect/>
          </a:stretch>
        </p:blipFill>
        <p:spPr>
          <a:xfrm>
            <a:off x="1150374" y="2202426"/>
            <a:ext cx="6902245" cy="3215148"/>
          </a:xfrm>
          <a:prstGeom prst="rect">
            <a:avLst/>
          </a:prstGeom>
        </p:spPr>
      </p:pic>
    </p:spTree>
    <p:extLst>
      <p:ext uri="{BB962C8B-B14F-4D97-AF65-F5344CB8AC3E}">
        <p14:creationId xmlns:p14="http://schemas.microsoft.com/office/powerpoint/2010/main" val="38819332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6999D-593E-0474-4A7A-4C234206A0D3}"/>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C00F969D-2C41-BBA7-7E97-B22E3F102801}"/>
              </a:ext>
            </a:extLst>
          </p:cNvPr>
          <p:cNvSpPr>
            <a:spLocks noGrp="1"/>
          </p:cNvSpPr>
          <p:nvPr>
            <p:ph idx="1"/>
          </p:nvPr>
        </p:nvSpPr>
        <p:spPr>
          <a:xfrm>
            <a:off x="822959" y="1845733"/>
            <a:ext cx="7543801" cy="4220769"/>
          </a:xfrm>
        </p:spPr>
        <p:txBody>
          <a:bodyPr/>
          <a:lstStyle/>
          <a:p>
            <a:pPr marL="0" indent="0">
              <a:buNone/>
            </a:pPr>
            <a:endParaRPr lang="en-IN" dirty="0"/>
          </a:p>
          <a:p>
            <a:endParaRPr lang="en-IN" dirty="0"/>
          </a:p>
          <a:p>
            <a:endParaRPr lang="en-IN" dirty="0"/>
          </a:p>
          <a:p>
            <a:endParaRPr lang="en-IN" dirty="0"/>
          </a:p>
          <a:p>
            <a:endParaRPr lang="en-IN" dirty="0"/>
          </a:p>
        </p:txBody>
      </p:sp>
      <p:pic>
        <p:nvPicPr>
          <p:cNvPr id="4" name="Picture 3">
            <a:extLst>
              <a:ext uri="{FF2B5EF4-FFF2-40B4-BE49-F238E27FC236}">
                <a16:creationId xmlns:a16="http://schemas.microsoft.com/office/drawing/2014/main" id="{2D21CA44-F1C1-6791-B73D-5370A339E933}"/>
              </a:ext>
            </a:extLst>
          </p:cNvPr>
          <p:cNvPicPr>
            <a:picLocks noChangeAspect="1"/>
          </p:cNvPicPr>
          <p:nvPr/>
        </p:nvPicPr>
        <p:blipFill>
          <a:blip r:embed="rId2"/>
          <a:stretch>
            <a:fillRect/>
          </a:stretch>
        </p:blipFill>
        <p:spPr>
          <a:xfrm>
            <a:off x="1651819" y="2251587"/>
            <a:ext cx="5712542" cy="3460955"/>
          </a:xfrm>
          <a:prstGeom prst="rect">
            <a:avLst/>
          </a:prstGeom>
        </p:spPr>
      </p:pic>
    </p:spTree>
    <p:extLst>
      <p:ext uri="{BB962C8B-B14F-4D97-AF65-F5344CB8AC3E}">
        <p14:creationId xmlns:p14="http://schemas.microsoft.com/office/powerpoint/2010/main" val="1078798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5E919-E4C4-E253-36D4-92FF2284A363}"/>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07E2618F-DB61-4B51-C5C4-E9B76CA6EEFC}"/>
              </a:ext>
            </a:extLst>
          </p:cNvPr>
          <p:cNvSpPr>
            <a:spLocks noGrp="1"/>
          </p:cNvSpPr>
          <p:nvPr>
            <p:ph idx="1"/>
          </p:nvPr>
        </p:nvSpPr>
        <p:spPr>
          <a:xfrm>
            <a:off x="822959" y="1845733"/>
            <a:ext cx="7543801" cy="4201105"/>
          </a:xfrm>
        </p:spPr>
        <p:txBody>
          <a:bodyPr/>
          <a:lstStyle/>
          <a:p>
            <a:pPr marL="0" indent="0">
              <a:buNone/>
            </a:pPr>
            <a:endParaRPr lang="en-IN" dirty="0"/>
          </a:p>
          <a:p>
            <a:pPr marL="0" indent="0">
              <a:buNone/>
            </a:pPr>
            <a:endParaRPr lang="en-IN" dirty="0"/>
          </a:p>
        </p:txBody>
      </p:sp>
      <p:pic>
        <p:nvPicPr>
          <p:cNvPr id="4" name="Picture 3">
            <a:extLst>
              <a:ext uri="{FF2B5EF4-FFF2-40B4-BE49-F238E27FC236}">
                <a16:creationId xmlns:a16="http://schemas.microsoft.com/office/drawing/2014/main" id="{DFFE10CA-9F89-7453-4878-77D3A8B9DC20}"/>
              </a:ext>
            </a:extLst>
          </p:cNvPr>
          <p:cNvPicPr>
            <a:picLocks noChangeAspect="1"/>
          </p:cNvPicPr>
          <p:nvPr/>
        </p:nvPicPr>
        <p:blipFill>
          <a:blip r:embed="rId2"/>
          <a:stretch>
            <a:fillRect/>
          </a:stretch>
        </p:blipFill>
        <p:spPr>
          <a:xfrm>
            <a:off x="1474838" y="2163096"/>
            <a:ext cx="5997677" cy="3254477"/>
          </a:xfrm>
          <a:prstGeom prst="rect">
            <a:avLst/>
          </a:prstGeom>
        </p:spPr>
      </p:pic>
    </p:spTree>
    <p:extLst>
      <p:ext uri="{BB962C8B-B14F-4D97-AF65-F5344CB8AC3E}">
        <p14:creationId xmlns:p14="http://schemas.microsoft.com/office/powerpoint/2010/main" val="3812160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560B0-13F0-988D-B0CC-05CF7E5300AA}"/>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CBA1C708-2691-B24D-5818-FA77FF786169}"/>
              </a:ext>
            </a:extLst>
          </p:cNvPr>
          <p:cNvSpPr>
            <a:spLocks noGrp="1"/>
          </p:cNvSpPr>
          <p:nvPr>
            <p:ph idx="1"/>
          </p:nvPr>
        </p:nvSpPr>
        <p:spPr/>
        <p:txBody>
          <a:bodyPr/>
          <a:lstStyle/>
          <a:p>
            <a:pPr marL="0" indent="0">
              <a:buNone/>
            </a:pPr>
            <a:endParaRPr lang="en-IN" dirty="0"/>
          </a:p>
          <a:p>
            <a:pPr marL="0" indent="0">
              <a:buNone/>
            </a:pPr>
            <a:endParaRPr lang="en-IN" dirty="0"/>
          </a:p>
        </p:txBody>
      </p:sp>
      <p:pic>
        <p:nvPicPr>
          <p:cNvPr id="4" name="Picture 3">
            <a:extLst>
              <a:ext uri="{FF2B5EF4-FFF2-40B4-BE49-F238E27FC236}">
                <a16:creationId xmlns:a16="http://schemas.microsoft.com/office/drawing/2014/main" id="{BB7FE5D5-2313-9DD1-FA09-A3CC6009E9D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3393" y="2369575"/>
            <a:ext cx="3490451" cy="2841522"/>
          </a:xfrm>
          <a:prstGeom prst="rect">
            <a:avLst/>
          </a:prstGeom>
        </p:spPr>
      </p:pic>
      <p:pic>
        <p:nvPicPr>
          <p:cNvPr id="5" name="Picture 4">
            <a:extLst>
              <a:ext uri="{FF2B5EF4-FFF2-40B4-BE49-F238E27FC236}">
                <a16:creationId xmlns:a16="http://schemas.microsoft.com/office/drawing/2014/main" id="{2BB1B530-CE1C-BDA4-B3C8-72A5F324649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80158" y="2448231"/>
            <a:ext cx="3333132" cy="2762865"/>
          </a:xfrm>
          <a:prstGeom prst="rect">
            <a:avLst/>
          </a:prstGeom>
        </p:spPr>
      </p:pic>
    </p:spTree>
    <p:extLst>
      <p:ext uri="{BB962C8B-B14F-4D97-AF65-F5344CB8AC3E}">
        <p14:creationId xmlns:p14="http://schemas.microsoft.com/office/powerpoint/2010/main" val="20415010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89E81-DC25-654C-06B5-2E2803CBAA23}"/>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FA2A315C-099F-37D7-26FB-61C31F27F544}"/>
              </a:ext>
            </a:extLst>
          </p:cNvPr>
          <p:cNvSpPr>
            <a:spLocks noGrp="1"/>
          </p:cNvSpPr>
          <p:nvPr>
            <p:ph idx="1"/>
          </p:nvPr>
        </p:nvSpPr>
        <p:spPr/>
        <p:txBody>
          <a:bodyPr/>
          <a:lstStyle/>
          <a:p>
            <a:pPr marL="0" indent="0">
              <a:buNone/>
            </a:pPr>
            <a:endParaRPr lang="en-IN" dirty="0"/>
          </a:p>
          <a:p>
            <a:endParaRPr lang="en-IN" dirty="0"/>
          </a:p>
        </p:txBody>
      </p:sp>
      <p:pic>
        <p:nvPicPr>
          <p:cNvPr id="4" name="Picture 3">
            <a:extLst>
              <a:ext uri="{FF2B5EF4-FFF2-40B4-BE49-F238E27FC236}">
                <a16:creationId xmlns:a16="http://schemas.microsoft.com/office/drawing/2014/main" id="{89316980-18E1-EF00-8A37-11A81B3B001D}"/>
              </a:ext>
            </a:extLst>
          </p:cNvPr>
          <p:cNvPicPr>
            <a:picLocks noChangeAspect="1"/>
          </p:cNvPicPr>
          <p:nvPr/>
        </p:nvPicPr>
        <p:blipFill>
          <a:blip r:embed="rId2"/>
          <a:stretch>
            <a:fillRect/>
          </a:stretch>
        </p:blipFill>
        <p:spPr>
          <a:xfrm>
            <a:off x="990507" y="2084439"/>
            <a:ext cx="3227532" cy="3667432"/>
          </a:xfrm>
          <a:prstGeom prst="rect">
            <a:avLst/>
          </a:prstGeom>
        </p:spPr>
      </p:pic>
      <p:pic>
        <p:nvPicPr>
          <p:cNvPr id="5" name="Picture 4">
            <a:extLst>
              <a:ext uri="{FF2B5EF4-FFF2-40B4-BE49-F238E27FC236}">
                <a16:creationId xmlns:a16="http://schemas.microsoft.com/office/drawing/2014/main" id="{8C4D0465-1028-532F-7751-941FA38FBCC9}"/>
              </a:ext>
            </a:extLst>
          </p:cNvPr>
          <p:cNvPicPr>
            <a:picLocks noChangeAspect="1"/>
          </p:cNvPicPr>
          <p:nvPr/>
        </p:nvPicPr>
        <p:blipFill>
          <a:blip r:embed="rId3"/>
          <a:stretch>
            <a:fillRect/>
          </a:stretch>
        </p:blipFill>
        <p:spPr>
          <a:xfrm>
            <a:off x="4689987" y="2084439"/>
            <a:ext cx="3382297" cy="3667432"/>
          </a:xfrm>
          <a:prstGeom prst="rect">
            <a:avLst/>
          </a:prstGeom>
        </p:spPr>
      </p:pic>
    </p:spTree>
    <p:extLst>
      <p:ext uri="{BB962C8B-B14F-4D97-AF65-F5344CB8AC3E}">
        <p14:creationId xmlns:p14="http://schemas.microsoft.com/office/powerpoint/2010/main" val="15961792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78AB8-6CD6-D2FB-735A-3E74FA3E11DA}"/>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8F07B238-B05F-73D8-AA07-1A8821D95AFA}"/>
              </a:ext>
            </a:extLst>
          </p:cNvPr>
          <p:cNvSpPr>
            <a:spLocks noGrp="1"/>
          </p:cNvSpPr>
          <p:nvPr>
            <p:ph idx="1"/>
          </p:nvPr>
        </p:nvSpPr>
        <p:spPr/>
        <p:txBody>
          <a:bodyPr/>
          <a:lstStyle/>
          <a:p>
            <a:endParaRPr lang="en-IN" dirty="0"/>
          </a:p>
          <a:p>
            <a:endParaRPr lang="en-IN" dirty="0"/>
          </a:p>
        </p:txBody>
      </p:sp>
      <p:pic>
        <p:nvPicPr>
          <p:cNvPr id="4" name="Picture 3">
            <a:extLst>
              <a:ext uri="{FF2B5EF4-FFF2-40B4-BE49-F238E27FC236}">
                <a16:creationId xmlns:a16="http://schemas.microsoft.com/office/drawing/2014/main" id="{E30EB513-6F84-E0DF-9941-191D05487AC4}"/>
              </a:ext>
            </a:extLst>
          </p:cNvPr>
          <p:cNvPicPr>
            <a:picLocks noChangeAspect="1"/>
          </p:cNvPicPr>
          <p:nvPr/>
        </p:nvPicPr>
        <p:blipFill rotWithShape="1">
          <a:blip r:embed="rId2"/>
          <a:srcRect l="6116"/>
          <a:stretch>
            <a:fillRect/>
          </a:stretch>
        </p:blipFill>
        <p:spPr bwMode="auto">
          <a:xfrm>
            <a:off x="983226" y="2153265"/>
            <a:ext cx="3146322" cy="3431458"/>
          </a:xfrm>
          <a:prstGeom prst="rect">
            <a:avLst/>
          </a:prstGeom>
          <a:ln>
            <a:noFill/>
          </a:ln>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49CCCE81-AEDE-736F-4B62-31CB56AEBA9D}"/>
              </a:ext>
            </a:extLst>
          </p:cNvPr>
          <p:cNvPicPr>
            <a:picLocks noChangeAspect="1"/>
          </p:cNvPicPr>
          <p:nvPr/>
        </p:nvPicPr>
        <p:blipFill>
          <a:blip r:embed="rId3"/>
          <a:stretch>
            <a:fillRect/>
          </a:stretch>
        </p:blipFill>
        <p:spPr>
          <a:xfrm>
            <a:off x="4650658" y="2330245"/>
            <a:ext cx="3404244" cy="3146324"/>
          </a:xfrm>
          <a:prstGeom prst="rect">
            <a:avLst/>
          </a:prstGeom>
        </p:spPr>
      </p:pic>
    </p:spTree>
    <p:extLst>
      <p:ext uri="{BB962C8B-B14F-4D97-AF65-F5344CB8AC3E}">
        <p14:creationId xmlns:p14="http://schemas.microsoft.com/office/powerpoint/2010/main" val="36722042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C8220-0EE2-6A30-DC77-FA2B5B1C45D7}"/>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CONCLUSION AND FUTURE ENHANCEMENT</a:t>
            </a:r>
          </a:p>
        </p:txBody>
      </p:sp>
      <p:sp>
        <p:nvSpPr>
          <p:cNvPr id="3" name="Content Placeholder 2">
            <a:extLst>
              <a:ext uri="{FF2B5EF4-FFF2-40B4-BE49-F238E27FC236}">
                <a16:creationId xmlns:a16="http://schemas.microsoft.com/office/drawing/2014/main" id="{A15CFB30-BA19-0018-F316-7B748DA99401}"/>
              </a:ext>
            </a:extLst>
          </p:cNvPr>
          <p:cNvSpPr>
            <a:spLocks noGrp="1"/>
          </p:cNvSpPr>
          <p:nvPr>
            <p:ph idx="1"/>
          </p:nvPr>
        </p:nvSpPr>
        <p:spPr/>
        <p:txBody>
          <a:bodyPr>
            <a:normAutofit/>
          </a:bodyPr>
          <a:lstStyle/>
          <a:p>
            <a:pPr algn="just">
              <a:lnSpc>
                <a:spcPct val="150000"/>
              </a:lnSpc>
            </a:pPr>
            <a:r>
              <a:rPr lang="en-IN" sz="1400" dirty="0">
                <a:latin typeface="Times New Roman" panose="02020603050405020304" pitchFamily="18" charset="0"/>
                <a:cs typeface="Times New Roman" panose="02020603050405020304" pitchFamily="18" charset="0"/>
              </a:rPr>
              <a:t>The project presented a Hybrid Autoencoder Driven Machine Learning framework for effective performance monitoring and dropped connection prediction in 5G cellular networks. By integrating traditional machine learning models such as KNN, </a:t>
            </a:r>
            <a:r>
              <a:rPr lang="en-IN" sz="1400" dirty="0" err="1">
                <a:latin typeface="Times New Roman" panose="02020603050405020304" pitchFamily="18" charset="0"/>
                <a:cs typeface="Times New Roman" panose="02020603050405020304" pitchFamily="18" charset="0"/>
              </a:rPr>
              <a:t>CatBoost</a:t>
            </a:r>
            <a:r>
              <a:rPr lang="en-IN" sz="1400" dirty="0">
                <a:latin typeface="Times New Roman" panose="02020603050405020304" pitchFamily="18" charset="0"/>
                <a:cs typeface="Times New Roman" panose="02020603050405020304" pitchFamily="18" charset="0"/>
              </a:rPr>
              <a:t>, and </a:t>
            </a:r>
            <a:r>
              <a:rPr lang="en-IN" sz="1400" dirty="0" err="1">
                <a:latin typeface="Times New Roman" panose="02020603050405020304" pitchFamily="18" charset="0"/>
                <a:cs typeface="Times New Roman" panose="02020603050405020304" pitchFamily="18" charset="0"/>
              </a:rPr>
              <a:t>XGBoost</a:t>
            </a:r>
            <a:r>
              <a:rPr lang="en-IN" sz="1400" dirty="0">
                <a:latin typeface="Times New Roman" panose="02020603050405020304" pitchFamily="18" charset="0"/>
                <a:cs typeface="Times New Roman" panose="02020603050405020304" pitchFamily="18" charset="0"/>
              </a:rPr>
              <a:t> with a proposed Deep Latent Forest approach, the system enabled a comprehensive comparative analysis of network performance prediction techniques. Extensive preprocessing and exploratory data analysis helped uncover key relationships among signal strength, throughput, latency, congestion, and mobility factors influencing connection stability. Experimental results demonstrated that baseline models, while capable of capturing basic patterns, struggled with complex and non-linear dependencies inherent in large-scale 5G data. In contrast, the proposed model achieved superior performance by learning compact and meaningful latent representations through an autoencoder and leveraging Random Forest classification for robust decision-making.</a:t>
            </a:r>
          </a:p>
        </p:txBody>
      </p:sp>
    </p:spTree>
    <p:extLst>
      <p:ext uri="{BB962C8B-B14F-4D97-AF65-F5344CB8AC3E}">
        <p14:creationId xmlns:p14="http://schemas.microsoft.com/office/powerpoint/2010/main" val="29763456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B1AC0-8CF8-C8F5-B8C9-EDCDA9A928E1}"/>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REFERENCE</a:t>
            </a:r>
          </a:p>
        </p:txBody>
      </p:sp>
      <p:sp>
        <p:nvSpPr>
          <p:cNvPr id="3" name="Content Placeholder 2">
            <a:extLst>
              <a:ext uri="{FF2B5EF4-FFF2-40B4-BE49-F238E27FC236}">
                <a16:creationId xmlns:a16="http://schemas.microsoft.com/office/drawing/2014/main" id="{E1A4B3C3-F623-41C3-E9EA-83DC3F0468C0}"/>
              </a:ext>
            </a:extLst>
          </p:cNvPr>
          <p:cNvSpPr>
            <a:spLocks noGrp="1"/>
          </p:cNvSpPr>
          <p:nvPr>
            <p:ph idx="1"/>
          </p:nvPr>
        </p:nvSpPr>
        <p:spPr/>
        <p:txBody>
          <a:bodyPr>
            <a:normAutofit fontScale="70000" lnSpcReduction="20000"/>
          </a:bodyPr>
          <a:lstStyle/>
          <a:p>
            <a:pPr lvl="0">
              <a:lnSpc>
                <a:spcPct val="120000"/>
              </a:lnSpc>
              <a:buFont typeface="Arial" panose="020B0604020202020204" pitchFamily="34" charset="0"/>
              <a:buChar char="•"/>
            </a:pPr>
            <a:r>
              <a:rPr lang="en-IN" dirty="0"/>
              <a:t> </a:t>
            </a:r>
            <a:r>
              <a:rPr lang="en-IN" dirty="0" err="1">
                <a:latin typeface="Times New Roman" panose="02020603050405020304" pitchFamily="18" charset="0"/>
                <a:cs typeface="Times New Roman" panose="02020603050405020304" pitchFamily="18" charset="0"/>
              </a:rPr>
              <a:t>Bouraqia</a:t>
            </a:r>
            <a:r>
              <a:rPr lang="en-IN" dirty="0">
                <a:latin typeface="Times New Roman" panose="02020603050405020304" pitchFamily="18" charset="0"/>
                <a:cs typeface="Times New Roman" panose="02020603050405020304" pitchFamily="18" charset="0"/>
              </a:rPr>
              <a:t>, K.; Sabir, E.; Sadik, M.; </a:t>
            </a:r>
            <a:r>
              <a:rPr lang="en-IN" dirty="0" err="1">
                <a:latin typeface="Times New Roman" panose="02020603050405020304" pitchFamily="18" charset="0"/>
                <a:cs typeface="Times New Roman" panose="02020603050405020304" pitchFamily="18" charset="0"/>
              </a:rPr>
              <a:t>Ladid</a:t>
            </a:r>
            <a:r>
              <a:rPr lang="en-IN" dirty="0">
                <a:latin typeface="Times New Roman" panose="02020603050405020304" pitchFamily="18" charset="0"/>
                <a:cs typeface="Times New Roman" panose="02020603050405020304" pitchFamily="18" charset="0"/>
              </a:rPr>
              <a:t>, L. Quality of experience for streaming services: Measurements, challenges and insights. </a:t>
            </a:r>
            <a:r>
              <a:rPr lang="en-IN" i="1" dirty="0">
                <a:latin typeface="Times New Roman" panose="02020603050405020304" pitchFamily="18" charset="0"/>
                <a:cs typeface="Times New Roman" panose="02020603050405020304" pitchFamily="18" charset="0"/>
              </a:rPr>
              <a:t>IEEE Access</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2020</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8</a:t>
            </a:r>
            <a:r>
              <a:rPr lang="en-IN" dirty="0">
                <a:latin typeface="Times New Roman" panose="02020603050405020304" pitchFamily="18" charset="0"/>
                <a:cs typeface="Times New Roman" panose="02020603050405020304" pitchFamily="18" charset="0"/>
              </a:rPr>
              <a:t>, 13341–13361. </a:t>
            </a:r>
          </a:p>
          <a:p>
            <a:pPr lvl="0">
              <a:lnSpc>
                <a:spcPct val="12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Imoize</a:t>
            </a:r>
            <a:r>
              <a:rPr lang="en-IN" dirty="0">
                <a:latin typeface="Times New Roman" panose="02020603050405020304" pitchFamily="18" charset="0"/>
                <a:cs typeface="Times New Roman" panose="02020603050405020304" pitchFamily="18" charset="0"/>
              </a:rPr>
              <a:t>, A.L.; </a:t>
            </a:r>
            <a:r>
              <a:rPr lang="en-IN" dirty="0" err="1">
                <a:latin typeface="Times New Roman" panose="02020603050405020304" pitchFamily="18" charset="0"/>
                <a:cs typeface="Times New Roman" panose="02020603050405020304" pitchFamily="18" charset="0"/>
              </a:rPr>
              <a:t>Orolu</a:t>
            </a:r>
            <a:r>
              <a:rPr lang="en-IN" dirty="0">
                <a:latin typeface="Times New Roman" panose="02020603050405020304" pitchFamily="18" charset="0"/>
                <a:cs typeface="Times New Roman" panose="02020603050405020304" pitchFamily="18" charset="0"/>
              </a:rPr>
              <a:t>, K.; </a:t>
            </a:r>
            <a:r>
              <a:rPr lang="en-IN" dirty="0" err="1">
                <a:latin typeface="Times New Roman" panose="02020603050405020304" pitchFamily="18" charset="0"/>
                <a:cs typeface="Times New Roman" panose="02020603050405020304" pitchFamily="18" charset="0"/>
              </a:rPr>
              <a:t>Atayero</a:t>
            </a:r>
            <a:r>
              <a:rPr lang="en-IN" dirty="0">
                <a:latin typeface="Times New Roman" panose="02020603050405020304" pitchFamily="18" charset="0"/>
                <a:cs typeface="Times New Roman" panose="02020603050405020304" pitchFamily="18" charset="0"/>
              </a:rPr>
              <a:t>, A.A.-A. Analysis of key performance indicators of a 4G LTE network based on experimental data obtained from a densely populated smart city. </a:t>
            </a:r>
            <a:r>
              <a:rPr lang="en-IN" i="1" dirty="0">
                <a:latin typeface="Times New Roman" panose="02020603050405020304" pitchFamily="18" charset="0"/>
                <a:cs typeface="Times New Roman" panose="02020603050405020304" pitchFamily="18" charset="0"/>
              </a:rPr>
              <a:t>Data Brief</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2020</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29</a:t>
            </a:r>
            <a:r>
              <a:rPr lang="en-IN" dirty="0">
                <a:latin typeface="Times New Roman" panose="02020603050405020304" pitchFamily="18" charset="0"/>
                <a:cs typeface="Times New Roman" panose="02020603050405020304" pitchFamily="18" charset="0"/>
              </a:rPr>
              <a:t>, 105304. </a:t>
            </a:r>
          </a:p>
          <a:p>
            <a:pPr lvl="0">
              <a:lnSpc>
                <a:spcPct val="12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Rajiullah</a:t>
            </a:r>
            <a:r>
              <a:rPr lang="en-IN" dirty="0">
                <a:latin typeface="Times New Roman" panose="02020603050405020304" pitchFamily="18" charset="0"/>
                <a:cs typeface="Times New Roman" panose="02020603050405020304" pitchFamily="18" charset="0"/>
              </a:rPr>
              <a:t>, M.; </a:t>
            </a:r>
            <a:r>
              <a:rPr lang="en-IN" dirty="0" err="1">
                <a:latin typeface="Times New Roman" panose="02020603050405020304" pitchFamily="18" charset="0"/>
                <a:cs typeface="Times New Roman" panose="02020603050405020304" pitchFamily="18" charset="0"/>
              </a:rPr>
              <a:t>Khatouni</a:t>
            </a:r>
            <a:r>
              <a:rPr lang="en-IN" dirty="0">
                <a:latin typeface="Times New Roman" panose="02020603050405020304" pitchFamily="18" charset="0"/>
                <a:cs typeface="Times New Roman" panose="02020603050405020304" pitchFamily="18" charset="0"/>
              </a:rPr>
              <a:t>, A.S.; </a:t>
            </a:r>
            <a:r>
              <a:rPr lang="en-IN" dirty="0" err="1">
                <a:latin typeface="Times New Roman" panose="02020603050405020304" pitchFamily="18" charset="0"/>
                <a:cs typeface="Times New Roman" panose="02020603050405020304" pitchFamily="18" charset="0"/>
              </a:rPr>
              <a:t>Midoglu</a:t>
            </a:r>
            <a:r>
              <a:rPr lang="en-IN" dirty="0">
                <a:latin typeface="Times New Roman" panose="02020603050405020304" pitchFamily="18" charset="0"/>
                <a:cs typeface="Times New Roman" panose="02020603050405020304" pitchFamily="18" charset="0"/>
              </a:rPr>
              <a:t>, C.; Alay, Ö.; </a:t>
            </a:r>
            <a:r>
              <a:rPr lang="en-IN" dirty="0" err="1">
                <a:latin typeface="Times New Roman" panose="02020603050405020304" pitchFamily="18" charset="0"/>
                <a:cs typeface="Times New Roman" panose="02020603050405020304" pitchFamily="18" charset="0"/>
              </a:rPr>
              <a:t>Brunstrom</a:t>
            </a:r>
            <a:r>
              <a:rPr lang="en-IN" dirty="0">
                <a:latin typeface="Times New Roman" panose="02020603050405020304" pitchFamily="18" charset="0"/>
                <a:cs typeface="Times New Roman" panose="02020603050405020304" pitchFamily="18" charset="0"/>
              </a:rPr>
              <a:t>, A.; </a:t>
            </a:r>
            <a:r>
              <a:rPr lang="en-IN" dirty="0" err="1">
                <a:latin typeface="Times New Roman" panose="02020603050405020304" pitchFamily="18" charset="0"/>
                <a:cs typeface="Times New Roman" panose="02020603050405020304" pitchFamily="18" charset="0"/>
              </a:rPr>
              <a:t>Griwodz</a:t>
            </a:r>
            <a:r>
              <a:rPr lang="en-IN" dirty="0">
                <a:latin typeface="Times New Roman" panose="02020603050405020304" pitchFamily="18" charset="0"/>
                <a:cs typeface="Times New Roman" panose="02020603050405020304" pitchFamily="18" charset="0"/>
              </a:rPr>
              <a:t>, C. Mobile network performance during the COVID-19 outbreak from a testbed perspective. In Proceedings of the 14th International Workshop on Wireless Network Testbeds, Experimental evaluation &amp; Characterization, London, UK, 25 September 2020. </a:t>
            </a:r>
          </a:p>
          <a:p>
            <a:pPr lvl="0">
              <a:lnSpc>
                <a:spcPct val="12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Wang, S.; Wiart, J. Sensor-Aided EMF Exposure Assessments in an Urban Environment Using Artificial Neural Networks. </a:t>
            </a:r>
            <a:r>
              <a:rPr lang="en-IN" i="1" dirty="0">
                <a:latin typeface="Times New Roman" panose="02020603050405020304" pitchFamily="18" charset="0"/>
                <a:cs typeface="Times New Roman" panose="02020603050405020304" pitchFamily="18" charset="0"/>
              </a:rPr>
              <a:t>Int. J. Environ. Res. Public Health</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2022</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17</a:t>
            </a:r>
            <a:r>
              <a:rPr lang="en-IN" dirty="0">
                <a:latin typeface="Times New Roman" panose="02020603050405020304" pitchFamily="18" charset="0"/>
                <a:cs typeface="Times New Roman" panose="02020603050405020304" pitchFamily="18" charset="0"/>
              </a:rPr>
              <a:t>, 3052. </a:t>
            </a:r>
          </a:p>
          <a:p>
            <a:pPr>
              <a:lnSpc>
                <a:spcPct val="12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Falkenberg, R.; Sliwa, B.; Piatkowski, N.; </a:t>
            </a:r>
            <a:r>
              <a:rPr lang="en-IN" dirty="0" err="1">
                <a:latin typeface="Times New Roman" panose="02020603050405020304" pitchFamily="18" charset="0"/>
                <a:cs typeface="Times New Roman" panose="02020603050405020304" pitchFamily="18" charset="0"/>
              </a:rPr>
              <a:t>Wietfeld</a:t>
            </a:r>
            <a:r>
              <a:rPr lang="en-IN" dirty="0">
                <a:latin typeface="Times New Roman" panose="02020603050405020304" pitchFamily="18" charset="0"/>
                <a:cs typeface="Times New Roman" panose="02020603050405020304" pitchFamily="18" charset="0"/>
              </a:rPr>
              <a:t>, C. Machine learning based uplink transmission power prediction for LTE and upcoming 5G networks using passive downlink indicators. In Proceedings of the 2018 IEEE 88th Vehicular Technology Conference (VTC-Fall), Chicago, IL, USA, 27–30 August 2022.</a:t>
            </a:r>
          </a:p>
        </p:txBody>
      </p:sp>
    </p:spTree>
    <p:extLst>
      <p:ext uri="{BB962C8B-B14F-4D97-AF65-F5344CB8AC3E}">
        <p14:creationId xmlns:p14="http://schemas.microsoft.com/office/powerpoint/2010/main" val="27991275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AB997-6D0A-1A6B-DF3D-10E234797EFD}"/>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GITHUB LINK</a:t>
            </a:r>
          </a:p>
        </p:txBody>
      </p:sp>
      <p:sp>
        <p:nvSpPr>
          <p:cNvPr id="3" name="Content Placeholder 2">
            <a:extLst>
              <a:ext uri="{FF2B5EF4-FFF2-40B4-BE49-F238E27FC236}">
                <a16:creationId xmlns:a16="http://schemas.microsoft.com/office/drawing/2014/main" id="{7979C63A-5C75-FCA2-61C9-F0314E6453FB}"/>
              </a:ext>
            </a:extLst>
          </p:cNvPr>
          <p:cNvSpPr>
            <a:spLocks noGrp="1"/>
          </p:cNvSpPr>
          <p:nvPr>
            <p:ph idx="1"/>
          </p:nvPr>
        </p:nvSpPr>
        <p:spPr/>
        <p:txBody>
          <a:bodyPr/>
          <a:lstStyle/>
          <a:p>
            <a:r>
              <a:rPr lang="en-IN" dirty="0">
                <a:hlinkClick r:id="rId2"/>
              </a:rPr>
              <a:t>https://github.com/vamshigoud23/IT-A_BATCH-9_MAJOR-PROJECT</a:t>
            </a:r>
            <a:r>
              <a:rPr lang="en-IN" dirty="0"/>
              <a:t> </a:t>
            </a:r>
          </a:p>
        </p:txBody>
      </p:sp>
    </p:spTree>
    <p:extLst>
      <p:ext uri="{BB962C8B-B14F-4D97-AF65-F5344CB8AC3E}">
        <p14:creationId xmlns:p14="http://schemas.microsoft.com/office/powerpoint/2010/main" val="19444636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81644" y="90714"/>
            <a:ext cx="8962570" cy="6132286"/>
          </a:xfrm>
          <a:prstGeom prst="rect">
            <a:avLst/>
          </a:prstGeom>
        </p:spPr>
      </p:pic>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182</TotalTime>
  <Words>1198</Words>
  <Application>Microsoft Office PowerPoint</Application>
  <PresentationFormat>On-screen Show (4:3)</PresentationFormat>
  <Paragraphs>127</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Times New Roman</vt:lpstr>
      <vt:lpstr>Retrospect</vt:lpstr>
      <vt:lpstr>PowerPoint Presentation</vt:lpstr>
      <vt:lpstr>INDEX</vt:lpstr>
      <vt:lpstr>INTRODUCTION  AND  OVERVIEW                </vt:lpstr>
      <vt:lpstr>EXISTING SYSTEM     </vt:lpstr>
      <vt:lpstr>EXISTING SYSTEM DISADVANTAGES     </vt:lpstr>
      <vt:lpstr>PROPOSED SYSTEM     </vt:lpstr>
      <vt:lpstr>PROPOSED SYSTEM ADVANTAGES               </vt:lpstr>
      <vt:lpstr>SYSTEM  REQUIREMENTS     </vt:lpstr>
      <vt:lpstr>NOVELITY               </vt:lpstr>
      <vt:lpstr>SYSTEM ARCHITECTURE               </vt:lpstr>
      <vt:lpstr>MODULES               </vt:lpstr>
      <vt:lpstr>MODULES               </vt:lpstr>
      <vt:lpstr>USE CASE DIAGRAM</vt:lpstr>
      <vt:lpstr>CLASS DIAGRAM     </vt:lpstr>
      <vt:lpstr>SEQUENCE DIAGRAM     </vt:lpstr>
      <vt:lpstr>ACTIVITY DIAGRAM     </vt:lpstr>
      <vt:lpstr>SOURCE CODE</vt:lpstr>
      <vt:lpstr>PowerPoint Presentation</vt:lpstr>
      <vt:lpstr>PowerPoint Presentation</vt:lpstr>
      <vt:lpstr>RESULTS</vt:lpstr>
      <vt:lpstr>RESULTS</vt:lpstr>
      <vt:lpstr>RESULTS</vt:lpstr>
      <vt:lpstr>RESULTS</vt:lpstr>
      <vt:lpstr>RESULTS</vt:lpstr>
      <vt:lpstr>RESULTS</vt:lpstr>
      <vt:lpstr>CONCLUSION AND FUTURE ENHANCEMENT</vt:lpstr>
      <vt:lpstr>REFERENCE</vt:lpstr>
      <vt:lpstr>GITHUB LINK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 POOJITHA</dc:creator>
  <dc:description>generated using python-pptx</dc:description>
  <cp:lastModifiedBy>Gopi Chand Gundepuri</cp:lastModifiedBy>
  <cp:revision>19</cp:revision>
  <dcterms:created xsi:type="dcterms:W3CDTF">2013-01-27T09:14:00Z</dcterms:created>
  <dcterms:modified xsi:type="dcterms:W3CDTF">2026-03-24T08:43:44Z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CCF79F2F04DD43DD9EB6C296950CDD6E_13</vt:lpwstr>
  </property>
  <property fmtid="{D5CDD505-2E9C-101B-9397-08002B2CF9AE}" pid="3" name="KSOProductBuildVer">
    <vt:lpwstr>1033-12.2.0.23196</vt:lpwstr>
  </property>
</Properties>
</file>