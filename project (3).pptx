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6" r:id="rId3"/>
    <p:sldId id="258" r:id="rId4"/>
    <p:sldId id="259" r:id="rId5"/>
    <p:sldId id="260" r:id="rId6"/>
    <p:sldId id="261" r:id="rId7"/>
    <p:sldId id="264" r:id="rId8"/>
    <p:sldId id="268" r:id="rId9"/>
    <p:sldId id="269" r:id="rId10"/>
    <p:sldId id="271" r:id="rId11"/>
    <p:sldId id="272" r:id="rId12"/>
    <p:sldId id="273" r:id="rId13"/>
    <p:sldId id="274" r:id="rId14"/>
    <p:sldId id="275" r:id="rId15"/>
    <p:sldId id="276" r:id="rId16"/>
    <p:sldId id="267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 snapToObjects="1" showGuides="1">
      <p:cViewPr>
        <p:scale>
          <a:sx n="100" d="100"/>
          <a:sy n="100" d="100"/>
        </p:scale>
        <p:origin x="907" y="-4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17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705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93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815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2449586" y="1463758"/>
            <a:ext cx="394282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  <a:latin typeface="Times New Roman"/>
              </a:rPr>
              <a:t>Major Project Stage – II</a:t>
            </a:r>
          </a:p>
          <a:p>
            <a:r>
              <a:rPr lang="en-US" sz="2400" b="1" dirty="0">
                <a:solidFill>
                  <a:srgbClr val="7030A0"/>
                </a:solidFill>
                <a:latin typeface="Times New Roman"/>
              </a:rPr>
              <a:t>Review - I</a:t>
            </a:r>
          </a:p>
          <a:p>
            <a:endParaRPr lang="en-US" sz="2800" b="1" dirty="0">
              <a:solidFill>
                <a:srgbClr val="7030A0"/>
              </a:solidFill>
              <a:latin typeface="Times New Roman"/>
            </a:endParaRPr>
          </a:p>
          <a:p>
            <a:endParaRPr lang="en-US" sz="2800" b="1" dirty="0">
              <a:solidFill>
                <a:srgbClr val="7030A0"/>
              </a:solidFill>
              <a:latin typeface="Times New Roman"/>
            </a:endParaRPr>
          </a:p>
          <a:p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9483" y="2561177"/>
            <a:ext cx="73250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: </a:t>
            </a:r>
            <a:r>
              <a:rPr lang="en-US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AUTOENCODER DRIVEN ML MODEL FOR PERFORMANCE MONITORING IN 5G CELLULAR NETWORKS</a:t>
            </a:r>
            <a:endParaRPr lang="en-IN" sz="2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5560" y="3587416"/>
            <a:ext cx="36743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/>
              </a:rPr>
              <a:t>Project Supervisor:</a:t>
            </a:r>
            <a:r>
              <a:rPr lang="en-US" dirty="0">
                <a:latin typeface="Times New Roman"/>
              </a:rPr>
              <a:t>​</a:t>
            </a:r>
          </a:p>
          <a:p>
            <a:r>
              <a:rPr lang="en-US" b="1" dirty="0">
                <a:solidFill>
                  <a:srgbClr val="002060"/>
                </a:solidFill>
                <a:latin typeface="Times New Roman"/>
              </a:rPr>
              <a:t>Name:</a:t>
            </a:r>
            <a:r>
              <a:rPr lang="en-US" dirty="0">
                <a:solidFill>
                  <a:srgbClr val="002060"/>
                </a:solidFill>
                <a:latin typeface="Times New Roman"/>
              </a:rPr>
              <a:t>​Ravi </a:t>
            </a:r>
            <a:r>
              <a:rPr lang="en-US" dirty="0" err="1">
                <a:solidFill>
                  <a:srgbClr val="002060"/>
                </a:solidFill>
                <a:latin typeface="Times New Roman"/>
              </a:rPr>
              <a:t>Regulagadda</a:t>
            </a:r>
            <a:endParaRPr lang="en-US" dirty="0">
              <a:solidFill>
                <a:srgbClr val="002060"/>
              </a:solidFill>
              <a:latin typeface="Times New Roman"/>
            </a:endParaRPr>
          </a:p>
          <a:p>
            <a:r>
              <a:rPr lang="en-US" b="1" dirty="0">
                <a:solidFill>
                  <a:srgbClr val="002060"/>
                </a:solidFill>
                <a:latin typeface="Times New Roman"/>
              </a:rPr>
              <a:t>Designation: Assistant Professor</a:t>
            </a:r>
            <a:endParaRPr lang="en-US" dirty="0">
              <a:solidFill>
                <a:srgbClr val="002060"/>
              </a:solidFill>
              <a:latin typeface="Times New Roman"/>
            </a:endParaRP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77049" y="4841084"/>
            <a:ext cx="48777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: 9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H. No : 227R1A1257     Name : V. Poojitha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H. No : 227R1A1223     Name : J. Vamshi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H. No : 227R1A1215     Name : E. Greeshma  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/>
              </a:rPr>
              <a:t>​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F3F90C-8826-4035-6BB4-14D1EC8A05A3}"/>
              </a:ext>
            </a:extLst>
          </p:cNvPr>
          <p:cNvSpPr txBox="1"/>
          <p:nvPr/>
        </p:nvSpPr>
        <p:spPr>
          <a:xfrm>
            <a:off x="1917695" y="140319"/>
            <a:ext cx="56625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 Technical Campus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7" descr="A logo with a flower&#10;&#10;Description automatically generated">
            <a:extLst>
              <a:ext uri="{FF2B5EF4-FFF2-40B4-BE49-F238E27FC236}">
                <a16:creationId xmlns:a16="http://schemas.microsoft.com/office/drawing/2014/main" id="{F3F5707B-596C-628B-0ABB-4545A7A376B2}"/>
              </a:ext>
              <a:ext uri="{4D361329-0F30-4A96-88F2-EE23789D81C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28" y="105110"/>
            <a:ext cx="1648967" cy="142982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8087" y="209739"/>
            <a:ext cx="7543800" cy="1450757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OVERVIEW               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8748"/>
            <a:ext cx="8229600" cy="427523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advent of fifth generation (5G) cellular networks marks a revolutionary leap in communication technology, promising ultra-low latency, enhanced bandwidth, and massive device connectivity.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the exponential growth of mobile applications, IoT devices, and high-throughput services such as autonomous driving and augmented reality, 5G is positioned as the backbone of future digital ecosystems.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Historically, mobile networks have evolved from 1G </a:t>
            </a:r>
            <a:r>
              <a:rPr lang="en-IN" sz="2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 systems through 4G LTE, each generation improving speed and efficiency but still facing critical challenges in spectrum utilization, energy efficiency, and dynamic resource management.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these advances, traditional cellular systems struggle to meet the stringent requirements of real-time applications in terms of reliability, security, and scalability. </a:t>
            </a:r>
          </a:p>
          <a:p>
            <a:pPr algn="just"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Conventional systems rely on static resource allocation, rule-based scheduling, and limited traffic prediction models.</a:t>
            </a:r>
            <a:endParaRPr lang="en-US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6FF04DF8-02EC-A138-C710-F78727BA8512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920" y="369116"/>
            <a:ext cx="1648967" cy="12704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XISTING SYSTEM     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643" y="2045433"/>
            <a:ext cx="7680714" cy="398174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5G network monitoring is manual, labor-intensive, and largely reactive.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manually collect and analyze KPIs like signal strength, throughput, and latency.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Troubleshooting requires scanning large logs and traces across multiple systems.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Root cause analysis depends on expert knowledge and is time-consuming.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 are resolved after user impact, making the process slow and inefficient.</a:t>
            </a: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71926312-2A54-4E93-D9C9-E783A3ACDB81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90" y="436228"/>
            <a:ext cx="1648967" cy="11157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286604"/>
            <a:ext cx="7543800" cy="1450757"/>
          </a:xfrm>
        </p:spPr>
        <p:txBody>
          <a:bodyPr>
            <a:normAutofit/>
          </a:bodyPr>
          <a:lstStyle/>
          <a:p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XISTING SYSTEM DISADVANTAGES     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174" y="2000864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Error and Bias 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Time-Consuming and Slow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Reactive, Not Proactive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 of Scalability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with Complex Patterns</a:t>
            </a:r>
          </a:p>
          <a:p>
            <a:pPr marL="0" indent="0" algn="just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2D9DB737-BABA-5E86-B0B4-8EAC2FE00C59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933" y="487670"/>
            <a:ext cx="1648967" cy="10486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ROPOSED SYSTEM     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970823"/>
            <a:ext cx="7543801" cy="402336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automates 5G network performance monitoring to overcome manual and reactive limitations.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hybrid ML model called DeepLatent-Forest with a two-phase architecture.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autoencoder extracts compressed, noise-free latent features from high-dimensional network data.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Random Forest classifier uses these latent features to accurately predict dropped connections.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with a Tkinter GUI, the system enables real-time, proactive, and user-friendly network monitoring.</a:t>
            </a: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5EA1A3FF-3A16-CAF9-B8CF-0221616F453A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4" y="613504"/>
            <a:ext cx="1648967" cy="9479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ADVANTAGES               </a:t>
            </a:r>
            <a:endParaRPr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617" y="1882333"/>
            <a:ext cx="7543801" cy="4023360"/>
          </a:xfrm>
        </p:spPr>
        <p:txBody>
          <a:bodyPr>
            <a:normAutofit/>
          </a:bodyPr>
          <a:lstStyle/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Proactive Problem Prediction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Accuracy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Automated Feature Engineering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 Reduction</a:t>
            </a:r>
          </a:p>
          <a:p>
            <a:pPr lvl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Robustness to Noise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A0977CE7-49CC-93B0-75E9-D6F625535A5C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503339"/>
            <a:ext cx="1648967" cy="10654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b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    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22960" y="2120208"/>
          <a:ext cx="7543800" cy="2617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1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439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SOFTWARE COMPONENTS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COMPONENTS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Python version    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Python 3.12.0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Processor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Intel i5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Operating system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 Windows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Memory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: 1 TB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(storage)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39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Frontend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        :  </a:t>
                      </a:r>
                      <a:r>
                        <a:rPr lang="en-IN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Tkinter</a:t>
                      </a:r>
                      <a:endParaRPr lang="en-IN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RAM 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   : 8</a:t>
                      </a:r>
                      <a:r>
                        <a:rPr lang="en-IN" sz="180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GB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 descr="A logo with a flower&#10;&#10;Description automatically generated">
            <a:extLst>
              <a:ext uri="{FF2B5EF4-FFF2-40B4-BE49-F238E27FC236}">
                <a16:creationId xmlns:a16="http://schemas.microsoft.com/office/drawing/2014/main" id="{9B8115F2-5061-CEB0-6E9D-EAFFC1B6DAA9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419450"/>
            <a:ext cx="1648967" cy="10654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0655F-DB92-411A-46D9-98465C4F8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NOVELITY  </a:t>
            </a:r>
            <a:r>
              <a:rPr lang="en-US" b="1" dirty="0"/>
              <a:t>            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8E562-A9DA-EB02-D5D3-2CF80D8A0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194339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Proposes a hybrid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DeepLatent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-Forest model combining a deep autoencoder with Random Forest for 5G performance monitoring.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unsupervised deep autoencoder–based feature extraction to handle high-dimensional and noisy 5G network data.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proactive prediction of dropped connections instead of reactive fault detection.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Achieves higher accuracy and robustness compared to traditional ML classifiers like KNN,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Integrates the model into a GUI-based, role-secured system, making advanced ML accessible for real-world network operations.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6A3CE753-5406-D984-5479-B3657ADCECE2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528506"/>
            <a:ext cx="1648967" cy="102345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8924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5B00A-B051-AE04-FDDB-D034C7F00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  <a:r>
              <a:rPr lang="en-US" b="1" dirty="0"/>
              <a:t>             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A88F5-87E2-B901-2AAB-D1481109F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20411"/>
            <a:ext cx="7543801" cy="4194495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endParaRPr lang="en-US" dirty="0"/>
          </a:p>
          <a:p>
            <a:pPr marL="0" indent="0">
              <a:lnSpc>
                <a:spcPct val="170000"/>
              </a:lnSpc>
              <a:buNone/>
            </a:pPr>
            <a:endParaRPr lang="en-IN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C5199E59-70F0-05B2-CCAE-5330EA67ECA5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444617"/>
            <a:ext cx="1648967" cy="1057012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AD1C37-38F2-80EE-8263-4621E256FC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121" b="14505"/>
          <a:stretch>
            <a:fillRect/>
          </a:stretch>
        </p:blipFill>
        <p:spPr>
          <a:xfrm>
            <a:off x="973394" y="2084438"/>
            <a:ext cx="7124711" cy="37854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4718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D7920-0230-65F8-6046-9DB255C5F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</a:t>
            </a:r>
            <a:r>
              <a:rPr lang="en-US" b="1" dirty="0"/>
              <a:t>             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A4946F-7998-7836-0BFE-7DC0179A9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177561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Collection Module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Collects 5G network performance data such as signal strength and speed.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Stores data for preprocessing and model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Module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Cleans data, removes irrelevant columns, and handles missing values.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Encodes categorical features and applies feature scaling.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Module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patterns related to dropped connections.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Visualizes correlations and class distributions.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Machine Learning Module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Trains KNN,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Provides baseline performance for comparison.</a:t>
            </a:r>
          </a:p>
          <a:p>
            <a:endParaRPr lang="en-IN" dirty="0"/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79B30B36-360C-FAAD-5370-127C194F82B7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620785"/>
            <a:ext cx="1648967" cy="838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41830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1157A-1381-853C-B46E-AFEEDFCCF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    </a:t>
            </a:r>
            <a:r>
              <a:rPr lang="en-US" b="1" dirty="0"/>
              <a:t>          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05D2D-F2D4-ECF6-8896-192173198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20411"/>
            <a:ext cx="7543801" cy="4471331"/>
          </a:xfrm>
        </p:spPr>
        <p:txBody>
          <a:bodyPr>
            <a:normAutofit fontScale="85000" lnSpcReduction="20000"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Autoencoder Feature Extraction Module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Learns compact latent features from high-dimensional data.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Reduces noise and redundancy in network parameters.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Deep Latent Forest Module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Combines autoencoder features with Random Forest classifier.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Improves accuracy in dropped connection prediction.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Evaluation Module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Calculates accuracy, precision, recall, and F1-score.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Generates confusion matrices for analysis.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Prediction Module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Predicts dropped connections for new 5G data.</a:t>
            </a:r>
          </a:p>
          <a:p>
            <a:pPr mar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Appends prediction results to the dataset.</a:t>
            </a: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66E02D1A-F4F9-9DF3-6D12-D7AC62005E5C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7793" y="729842"/>
            <a:ext cx="1648967" cy="76339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1508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7982E-8025-5099-D805-9BC19053A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logo with a flower&#10;&#10;Description automatically generated">
            <a:extLst>
              <a:ext uri="{FF2B5EF4-FFF2-40B4-BE49-F238E27FC236}">
                <a16:creationId xmlns:a16="http://schemas.microsoft.com/office/drawing/2014/main" id="{50AFDC88-BCFB-2205-4EEA-2DC50B468A32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7028" y="578840"/>
            <a:ext cx="1529732" cy="961648"/>
          </a:xfrm>
          <a:prstGeom prst="rect">
            <a:avLst/>
          </a:prstGeom>
          <a:noFill/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803E432-5DF2-0747-B409-A16860451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 descr="PlantUML diagram">
            <a:extLst>
              <a:ext uri="{FF2B5EF4-FFF2-40B4-BE49-F238E27FC236}">
                <a16:creationId xmlns:a16="http://schemas.microsoft.com/office/drawing/2014/main" id="{A91A8FA5-9737-7DD5-A129-A0E415BB9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292" y="2441197"/>
            <a:ext cx="6845416" cy="232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0150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B8E17-A854-D31E-7783-D0D10BD04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8F72C-08BC-7709-E172-F4F894916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PlantUML diagram">
            <a:extLst>
              <a:ext uri="{FF2B5EF4-FFF2-40B4-BE49-F238E27FC236}">
                <a16:creationId xmlns:a16="http://schemas.microsoft.com/office/drawing/2014/main" id="{F4AD4213-397A-54AB-E31D-F03F65920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804" y="2147582"/>
            <a:ext cx="4655889" cy="3615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logo with a flower&#10;&#10;Description automatically generated">
            <a:extLst>
              <a:ext uri="{FF2B5EF4-FFF2-40B4-BE49-F238E27FC236}">
                <a16:creationId xmlns:a16="http://schemas.microsoft.com/office/drawing/2014/main" id="{28F7B4AE-17E2-14D4-DDAD-BACFC4657853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793" y="623491"/>
            <a:ext cx="1648967" cy="942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91745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E29B-7745-006F-C6E6-1560D788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    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5ED74-9507-8B0F-F360-0CF1924632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 descr="PlantUML diagram">
            <a:extLst>
              <a:ext uri="{FF2B5EF4-FFF2-40B4-BE49-F238E27FC236}">
                <a16:creationId xmlns:a16="http://schemas.microsoft.com/office/drawing/2014/main" id="{511D0182-F078-7096-A216-98E3007635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237" y="2223083"/>
            <a:ext cx="6610524" cy="3120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logo with a flower&#10;&#10;Description automatically generated">
            <a:extLst>
              <a:ext uri="{FF2B5EF4-FFF2-40B4-BE49-F238E27FC236}">
                <a16:creationId xmlns:a16="http://schemas.microsoft.com/office/drawing/2014/main" id="{A862B6FB-3D74-7043-3DEC-75B8DF932530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793" y="776059"/>
            <a:ext cx="1648967" cy="838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5204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7AC88-7572-48DD-C328-489606193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AA92C-9D4C-3159-6D38-F45077114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 descr="PlantUML diagram">
            <a:extLst>
              <a:ext uri="{FF2B5EF4-FFF2-40B4-BE49-F238E27FC236}">
                <a16:creationId xmlns:a16="http://schemas.microsoft.com/office/drawing/2014/main" id="{79145C70-8C83-3667-1D0A-1B1746C6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5277" y="2133600"/>
            <a:ext cx="4945626" cy="39230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logo with a flower&#10;&#10;Description automatically generated">
            <a:extLst>
              <a:ext uri="{FF2B5EF4-FFF2-40B4-BE49-F238E27FC236}">
                <a16:creationId xmlns:a16="http://schemas.microsoft.com/office/drawing/2014/main" id="{D40DB2CC-DD4A-0D6F-9DBC-25D984AF4302}"/>
              </a:ext>
              <a:ext uri="{4D361329-0F30-4A96-88F2-EE23789D81CF}">
                <a16:creationId xmlns:lc="http://schemas.openxmlformats.org/drawingml/2006/lockedCanvas"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7893E9-B8D9-47BB-B8B0-4F598E8A20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916" y="801329"/>
            <a:ext cx="1503844" cy="8389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049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644" y="90714"/>
            <a:ext cx="8962570" cy="61322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125</TotalTime>
  <Words>745</Words>
  <Application>Microsoft Office PowerPoint</Application>
  <PresentationFormat>On-screen Show (4:3)</PresentationFormat>
  <Paragraphs>91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Retrospect</vt:lpstr>
      <vt:lpstr>PowerPoint Presentation</vt:lpstr>
      <vt:lpstr>INTRODUCTION  AND  OVERVIEW                </vt:lpstr>
      <vt:lpstr>EXISTING SYSTEM     </vt:lpstr>
      <vt:lpstr>EXISTING SYSTEM DISADVANTAGES     </vt:lpstr>
      <vt:lpstr>PROPOSED SYSTEM     </vt:lpstr>
      <vt:lpstr>PROPOSED SYSTEM ADVANTAGES               </vt:lpstr>
      <vt:lpstr>SYSTEM  REQUIREMENTS     </vt:lpstr>
      <vt:lpstr>NOVELITY               </vt:lpstr>
      <vt:lpstr>SYSTEM ARCHITECTURE               </vt:lpstr>
      <vt:lpstr>MODULES               </vt:lpstr>
      <vt:lpstr>MODULES               </vt:lpstr>
      <vt:lpstr>USE CASE DIAGRAM</vt:lpstr>
      <vt:lpstr>CLASS DIAGRAM     </vt:lpstr>
      <vt:lpstr>SEQUENCE DIAGRAM     </vt:lpstr>
      <vt:lpstr>ACTIVITY DIAGRAM 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 POOJITHA</dc:creator>
  <dc:description>generated using python-pptx</dc:description>
  <cp:lastModifiedBy>eddam greeshma reddy</cp:lastModifiedBy>
  <cp:revision>13</cp:revision>
  <dcterms:created xsi:type="dcterms:W3CDTF">2013-01-27T09:14:00Z</dcterms:created>
  <dcterms:modified xsi:type="dcterms:W3CDTF">2026-01-28T09:39:19Z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CCF79F2F04DD43DD9EB6C296950CDD6E_13</vt:lpwstr>
  </property>
  <property fmtid="{D5CDD505-2E9C-101B-9397-08002B2CF9AE}" pid="3" name="KSOProductBuildVer">
    <vt:lpwstr>1033-12.2.0.23196</vt:lpwstr>
  </property>
</Properties>
</file>